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3" r:id="rId9"/>
    <p:sldId id="264" r:id="rId10"/>
    <p:sldId id="268" r:id="rId11"/>
    <p:sldId id="265" r:id="rId12"/>
  </p:sldIdLst>
  <p:sldSz cx="12192000" cy="6858000"/>
  <p:notesSz cx="6858000" cy="9144000"/>
  <p:embeddedFontLst>
    <p:embeddedFont>
      <p:font typeface="Poppins SemiBold" panose="020B0604020202020204" charset="-18"/>
      <p:regular r:id="rId14"/>
      <p:bold r:id="rId15"/>
      <p:italic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Lato" panose="020B0604020202020204" charset="-18"/>
      <p:regular r:id="rId21"/>
      <p:bold r:id="rId22"/>
      <p:italic r:id="rId23"/>
      <p:boldItalic r:id="rId24"/>
    </p:embeddedFont>
    <p:embeddedFont>
      <p:font typeface="Poppins" panose="020B0604020202020204" charset="-18"/>
      <p:regular r:id="rId25"/>
      <p:bold r:id="rId26"/>
      <p:italic r:id="rId27"/>
    </p:embeddedFont>
    <p:embeddedFont>
      <p:font typeface="Microsoft YaHei" panose="020B0503020204020204" pitchFamily="34" charset="-122"/>
      <p:regular r:id="rId28"/>
      <p:bold r:id="rId29"/>
    </p:embeddedFont>
    <p:embeddedFont>
      <p:font typeface="宋体" panose="02010600030101010101" pitchFamily="2" charset="-122"/>
      <p:regular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8158FA9-9EF3-481E-AAB3-DC8CBACF9F51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59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699831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21237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55968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19321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48357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027624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69438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530742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665872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951219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6473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image" Target="../media/image1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913370" y="-1905000"/>
            <a:ext cx="6273165" cy="5984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762000" y="5148857"/>
            <a:ext cx="17621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2762250" y="5148857"/>
            <a:ext cx="20478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5048250" y="5148857"/>
            <a:ext cx="223837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762000" y="1590675"/>
            <a:ext cx="8128000" cy="1153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1E3A8A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TravelMate </a:t>
            </a:r>
            <a:r>
              <a:rPr lang="en-US" sz="7500" b="1" i="0" u="none" strike="noStrike" cap="none">
                <a:solidFill>
                  <a:srgbClr val="2563EB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AI</a:t>
            </a:r>
          </a:p>
        </p:txBody>
      </p:sp>
      <p:sp>
        <p:nvSpPr>
          <p:cNvPr id="91" name="Google Shape;91;p13"/>
          <p:cNvSpPr txBox="1"/>
          <p:nvPr/>
        </p:nvSpPr>
        <p:spPr>
          <a:xfrm>
            <a:off x="762000" y="3319780"/>
            <a:ext cx="7966075" cy="1253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0" i="1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Planific</a:t>
            </a:r>
            <a:r>
              <a:rPr lang="" altLang="en-US" sz="2000" b="0" i="1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ă </a:t>
            </a:r>
            <a:r>
              <a:rPr lang="en-US" altLang="en-US" sz="2000" b="0" i="1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mai pu</a:t>
            </a:r>
            <a:r>
              <a:rPr lang="" altLang="en-US" sz="2000" b="0" i="1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ț</a:t>
            </a:r>
            <a:r>
              <a:rPr lang="en-US" altLang="en-US" sz="2000" b="0" i="1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in. Experimenteaz</a:t>
            </a:r>
            <a:r>
              <a:rPr lang="" altLang="en-US" sz="2000" b="0" i="1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ă </a:t>
            </a:r>
            <a:r>
              <a:rPr lang="en-US" altLang="en-US" sz="2000" b="0" i="1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mai mult. TravelMate AI face restul.</a:t>
            </a:r>
          </a:p>
        </p:txBody>
      </p:sp>
      <p:pic>
        <p:nvPicPr>
          <p:cNvPr id="92" name="Google Shape;92;p13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841375" y="5291732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2809875" y="5291732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 descr="image.png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5172075" y="5291732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/>
          <p:nvPr/>
        </p:nvPicPr>
        <p:blipFill>
          <a:blip r:embed="rId11"/>
          <a:stretch>
            <a:fillRect/>
          </a:stretch>
        </p:blipFill>
        <p:spPr>
          <a:xfrm rot="420000">
            <a:off x="9176385" y="4531995"/>
            <a:ext cx="2950210" cy="2225675"/>
          </a:xfrm>
          <a:prstGeom prst="rect">
            <a:avLst/>
          </a:prstGeom>
          <a:effectLst>
            <a:softEdge rad="6350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62000" y="1464915"/>
            <a:ext cx="33654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4413200" y="1464915"/>
            <a:ext cx="33654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8064400" y="1464915"/>
            <a:ext cx="3365599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238125" y="217170"/>
            <a:ext cx="11953875" cy="55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altLang="en-US" sz="3600" b="0" i="0" u="none" strike="noStrike" cap="none">
                <a:solidFill>
                  <a:srgbClr val="0F172A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Problema - </a:t>
            </a:r>
            <a:r>
              <a:rPr lang="en-US" sz="3600" b="0" i="0" u="none" strike="noStrike" cap="none">
                <a:solidFill>
                  <a:srgbClr val="0F172A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Haosul în </a:t>
            </a:r>
            <a:r>
              <a:rPr lang="ro-RO" altLang="en-US" sz="3600" b="0" i="0" u="none" strike="noStrike" cap="none">
                <a:solidFill>
                  <a:srgbClr val="0F172A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p</a:t>
            </a:r>
            <a:r>
              <a:rPr lang="en-US" sz="3600" b="0" i="0" u="none" strike="noStrike" cap="none">
                <a:solidFill>
                  <a:srgbClr val="0F172A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lanificare</a:t>
            </a:r>
            <a:r>
              <a:rPr lang="ro-RO" altLang="en-US" sz="3600" b="0" i="0" u="none" strike="noStrike" cap="none">
                <a:solidFill>
                  <a:srgbClr val="0F172A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a vacanțelor</a:t>
            </a:r>
          </a:p>
        </p:txBody>
      </p:sp>
      <p:sp>
        <p:nvSpPr>
          <p:cNvPr id="104" name="Google Shape;104;p14"/>
          <p:cNvSpPr/>
          <p:nvPr/>
        </p:nvSpPr>
        <p:spPr>
          <a:xfrm>
            <a:off x="0" y="0"/>
            <a:ext cx="9525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762000" y="5571460"/>
            <a:ext cx="10668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1E40A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"Vrem să vedem lumea, nu să ne stresăm planificând-o."</a:t>
            </a:r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2301775" y="1722090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1087914" y="2293590"/>
            <a:ext cx="271362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Efort Redundant</a:t>
            </a:r>
          </a:p>
        </p:txBody>
      </p:sp>
      <p:sp>
        <p:nvSpPr>
          <p:cNvPr id="108" name="Google Shape;108;p14"/>
          <p:cNvSpPr txBox="1"/>
          <p:nvPr/>
        </p:nvSpPr>
        <p:spPr>
          <a:xfrm>
            <a:off x="1152525" y="2817465"/>
            <a:ext cx="25844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Utilizatorii petrec în medie peste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5 ore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căutând pe zeci de site-uri separate pentru zboruri și cazări.</a:t>
            </a:r>
          </a:p>
        </p:txBody>
      </p:sp>
      <p:pic>
        <p:nvPicPr>
          <p:cNvPr id="109" name="Google Shape;109;p14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5857726" y="172209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4739115" y="2293590"/>
            <a:ext cx="271362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Fragmentarea Datelor</a:t>
            </a:r>
          </a:p>
        </p:txBody>
      </p:sp>
      <p:sp>
        <p:nvSpPr>
          <p:cNvPr id="111" name="Google Shape;111;p14"/>
          <p:cNvSpPr txBox="1"/>
          <p:nvPr/>
        </p:nvSpPr>
        <p:spPr>
          <a:xfrm>
            <a:off x="4803725" y="3150840"/>
            <a:ext cx="25844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Informațiile sunt împrăștiate. Nu există un sistem care să coreleze zborurile cu bugetul și stilul de viață.</a:t>
            </a:r>
          </a:p>
        </p:txBody>
      </p:sp>
      <p:pic>
        <p:nvPicPr>
          <p:cNvPr id="112" name="Google Shape;112;p14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9556700" y="172209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8390312" y="2293590"/>
            <a:ext cx="271377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Oboseala Decizională</a:t>
            </a:r>
          </a:p>
        </p:txBody>
      </p:sp>
      <p:sp>
        <p:nvSpPr>
          <p:cNvPr id="114" name="Google Shape;114;p14"/>
          <p:cNvSpPr txBox="1"/>
          <p:nvPr/>
        </p:nvSpPr>
        <p:spPr>
          <a:xfrm>
            <a:off x="8454925" y="2817465"/>
            <a:ext cx="25845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Prea multe opțiuni fără context duc la abandonarea planurilor sau la vacanțe prost organizate.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495300" y="1089719"/>
            <a:ext cx="11201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Soluția Noastră: 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6000" b="1" i="0" u="none" strike="noStrike" cap="none">
                <a:solidFill>
                  <a:srgbClr val="3B82F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TravelMate AI</a:t>
            </a:r>
          </a:p>
        </p:txBody>
      </p:sp>
      <p:sp>
        <p:nvSpPr>
          <p:cNvPr id="121" name="Google Shape;121;p15"/>
          <p:cNvSpPr/>
          <p:nvPr/>
        </p:nvSpPr>
        <p:spPr>
          <a:xfrm>
            <a:off x="4266565" y="3299460"/>
            <a:ext cx="3658870" cy="76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762000" y="3799264"/>
            <a:ext cx="10668000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altLang="en-US" sz="2000" b="0" i="0" u="none" strike="noStrike" cap="none">
                <a:solidFill>
                  <a:schemeClr val="bg1">
                    <a:lumMod val="85000"/>
                  </a:schemeClr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U</a:t>
            </a:r>
            <a:r>
              <a:rPr lang="en-US" altLang="en-US" sz="2000" b="0" i="0" u="none" strike="noStrike" cap="none">
                <a:solidFill>
                  <a:schemeClr val="bg1">
                    <a:lumMod val="85000"/>
                  </a:schemeClr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n planificator inteligent de c</a:t>
            </a:r>
            <a:r>
              <a:rPr lang="" altLang="en-US" sz="2000" b="0" i="0" u="none" strike="noStrike" cap="none">
                <a:solidFill>
                  <a:schemeClr val="bg1">
                    <a:lumMod val="85000"/>
                  </a:schemeClr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ă</a:t>
            </a:r>
            <a:r>
              <a:rPr lang="en-US" altLang="en-US" sz="2000" b="0" i="0" u="none" strike="noStrike" cap="none">
                <a:solidFill>
                  <a:schemeClr val="bg1">
                    <a:lumMod val="85000"/>
                  </a:schemeClr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l</a:t>
            </a:r>
            <a:r>
              <a:rPr lang="" altLang="en-US" sz="2000" b="0" i="0" u="none" strike="noStrike" cap="none">
                <a:solidFill>
                  <a:schemeClr val="bg1">
                    <a:lumMod val="85000"/>
                  </a:schemeClr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ă</a:t>
            </a:r>
            <a:r>
              <a:rPr lang="en-US" altLang="en-US" sz="2000" b="0" i="0" u="none" strike="noStrike" cap="none">
                <a:solidFill>
                  <a:schemeClr val="bg1">
                    <a:lumMod val="85000"/>
                  </a:schemeClr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torii bazat pe agen</a:t>
            </a:r>
            <a:r>
              <a:rPr lang="" altLang="en-US" sz="2000" b="0" i="0" u="none" strike="noStrike" cap="none">
                <a:solidFill>
                  <a:schemeClr val="bg1">
                    <a:lumMod val="85000"/>
                  </a:schemeClr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ț</a:t>
            </a:r>
            <a:r>
              <a:rPr lang="en-US" altLang="en-US" sz="2000" b="0" i="0" u="none" strike="noStrike" cap="none">
                <a:solidFill>
                  <a:schemeClr val="bg1">
                    <a:lumMod val="85000"/>
                  </a:schemeClr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 AI, care automatizeaz</a:t>
            </a:r>
            <a:r>
              <a:rPr lang="" altLang="en-US" sz="2000" b="0" i="0" u="none" strike="noStrike" cap="none">
                <a:solidFill>
                  <a:schemeClr val="bg1">
                    <a:lumMod val="85000"/>
                  </a:schemeClr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ă </a:t>
            </a:r>
            <a:r>
              <a:rPr lang="en-US" altLang="en-US" sz="2000" b="0" i="0" u="none" strike="noStrike" cap="none">
                <a:solidFill>
                  <a:schemeClr val="bg1">
                    <a:lumMod val="85000"/>
                  </a:schemeClr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întregul proces de organizare a unei vacan</a:t>
            </a:r>
            <a:r>
              <a:rPr lang="" altLang="en-US" sz="2000" b="0" i="0" u="none" strike="noStrike" cap="none">
                <a:solidFill>
                  <a:schemeClr val="bg1">
                    <a:lumMod val="85000"/>
                  </a:schemeClr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ț</a:t>
            </a:r>
            <a:r>
              <a:rPr lang="en-US" altLang="en-US" sz="2000" b="0" i="0" u="none" strike="noStrike" cap="none">
                <a:solidFill>
                  <a:schemeClr val="bg1">
                    <a:lumMod val="85000"/>
                  </a:schemeClr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e. Analizeaz</a:t>
            </a:r>
            <a:r>
              <a:rPr lang="" altLang="en-US" sz="2000" b="0" i="0" u="none" strike="noStrike" cap="none">
                <a:solidFill>
                  <a:schemeClr val="bg1">
                    <a:lumMod val="85000"/>
                  </a:schemeClr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ă </a:t>
            </a:r>
            <a:r>
              <a:rPr lang="en-US" altLang="en-US" sz="2000" b="0" i="0" u="none" strike="noStrike" cap="none">
                <a:solidFill>
                  <a:schemeClr val="bg1">
                    <a:lumMod val="85000"/>
                  </a:schemeClr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preferin</a:t>
            </a:r>
            <a:r>
              <a:rPr lang="" altLang="en-US" sz="2000" b="0" i="0" u="none" strike="noStrike" cap="none">
                <a:solidFill>
                  <a:schemeClr val="bg1">
                    <a:lumMod val="85000"/>
                  </a:schemeClr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ț</a:t>
            </a:r>
            <a:r>
              <a:rPr lang="en-US" altLang="en-US" sz="2000" b="0" i="0" u="none" strike="noStrike" cap="none">
                <a:solidFill>
                  <a:schemeClr val="bg1">
                    <a:lumMod val="85000"/>
                  </a:schemeClr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ele utilizatorului, caut</a:t>
            </a:r>
            <a:r>
              <a:rPr lang="" altLang="en-US" sz="2000" b="0" i="0" u="none" strike="noStrike" cap="none">
                <a:solidFill>
                  <a:schemeClr val="bg1">
                    <a:lumMod val="85000"/>
                  </a:schemeClr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ă ș</a:t>
            </a:r>
            <a:r>
              <a:rPr lang="en-US" altLang="en-US" sz="2000" b="0" i="0" u="none" strike="noStrike" cap="none">
                <a:solidFill>
                  <a:schemeClr val="bg1">
                    <a:lumMod val="85000"/>
                  </a:schemeClr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 compar</a:t>
            </a:r>
            <a:r>
              <a:rPr lang="" altLang="en-US" sz="2000" b="0" i="0" u="none" strike="noStrike" cap="none">
                <a:solidFill>
                  <a:schemeClr val="bg1">
                    <a:lumMod val="85000"/>
                  </a:schemeClr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ă </a:t>
            </a:r>
            <a:r>
              <a:rPr lang="en-US" altLang="en-US" sz="2000" b="0" i="0" u="none" strike="noStrike" cap="none">
                <a:solidFill>
                  <a:schemeClr val="bg1">
                    <a:lumMod val="85000"/>
                  </a:schemeClr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zboruri, caz</a:t>
            </a:r>
            <a:r>
              <a:rPr lang="" altLang="en-US" sz="2000" b="0" i="0" u="none" strike="noStrike" cap="none">
                <a:solidFill>
                  <a:schemeClr val="bg1">
                    <a:lumMod val="85000"/>
                  </a:schemeClr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ă</a:t>
            </a:r>
            <a:r>
              <a:rPr lang="en-US" altLang="en-US" sz="2000" b="0" i="0" u="none" strike="noStrike" cap="none">
                <a:solidFill>
                  <a:schemeClr val="bg1">
                    <a:lumMod val="85000"/>
                  </a:schemeClr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ri </a:t>
            </a:r>
            <a:r>
              <a:rPr lang="" altLang="en-US" sz="2000" b="0" i="0" u="none" strike="noStrike" cap="none">
                <a:solidFill>
                  <a:schemeClr val="bg1">
                    <a:lumMod val="85000"/>
                  </a:schemeClr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ș</a:t>
            </a:r>
            <a:r>
              <a:rPr lang="en-US" altLang="en-US" sz="2000" b="0" i="0" u="none" strike="noStrike" cap="none">
                <a:solidFill>
                  <a:schemeClr val="bg1">
                    <a:lumMod val="85000"/>
                  </a:schemeClr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 activit</a:t>
            </a:r>
            <a:r>
              <a:rPr lang="" altLang="en-US" sz="2000" b="0" i="0" u="none" strike="noStrike" cap="none">
                <a:solidFill>
                  <a:schemeClr val="bg1">
                    <a:lumMod val="85000"/>
                  </a:schemeClr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ăț</a:t>
            </a:r>
            <a:r>
              <a:rPr lang="en-US" altLang="en-US" sz="2000" b="0" i="0" u="none" strike="noStrike" cap="none">
                <a:solidFill>
                  <a:schemeClr val="bg1">
                    <a:lumMod val="85000"/>
                  </a:schemeClr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i, apoi genereaz</a:t>
            </a:r>
            <a:r>
              <a:rPr lang="" altLang="en-US" sz="2000" b="0" i="0" u="none" strike="noStrike" cap="none">
                <a:solidFill>
                  <a:schemeClr val="bg1">
                    <a:lumMod val="85000"/>
                  </a:schemeClr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ă </a:t>
            </a:r>
            <a:r>
              <a:rPr lang="en-US" altLang="en-US" sz="2000" b="0" i="0" u="none" strike="noStrike" cap="none">
                <a:solidFill>
                  <a:schemeClr val="bg1">
                    <a:lumMod val="85000"/>
                  </a:schemeClr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un itinerariu optimizat zi-cu-zi, adaptat bugetului </a:t>
            </a:r>
            <a:r>
              <a:rPr lang="" altLang="en-US" sz="2000" b="0" i="0" u="none" strike="noStrike" cap="none">
                <a:solidFill>
                  <a:schemeClr val="bg1">
                    <a:lumMod val="85000"/>
                  </a:schemeClr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ș</a:t>
            </a:r>
            <a:r>
              <a:rPr lang="en-US" altLang="en-US" sz="2000" b="0" i="0" u="none" strike="noStrike" cap="none">
                <a:solidFill>
                  <a:schemeClr val="bg1">
                    <a:lumMod val="85000"/>
                  </a:schemeClr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 stilului de c</a:t>
            </a:r>
            <a:r>
              <a:rPr lang="" altLang="en-US" sz="2000" b="0" i="0" u="none" strike="noStrike" cap="none">
                <a:solidFill>
                  <a:schemeClr val="bg1">
                    <a:lumMod val="85000"/>
                  </a:schemeClr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ă</a:t>
            </a:r>
            <a:r>
              <a:rPr lang="en-US" altLang="en-US" sz="2000" b="0" i="0" u="none" strike="noStrike" cap="none">
                <a:solidFill>
                  <a:schemeClr val="bg1">
                    <a:lumMod val="85000"/>
                  </a:schemeClr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l</a:t>
            </a:r>
            <a:r>
              <a:rPr lang="" altLang="en-US" sz="2000" b="0" i="0" u="none" strike="noStrike" cap="none">
                <a:solidFill>
                  <a:schemeClr val="bg1">
                    <a:lumMod val="85000"/>
                  </a:schemeClr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ă</a:t>
            </a:r>
            <a:r>
              <a:rPr lang="en-US" altLang="en-US" sz="2000" b="0" i="0" u="none" strike="noStrike" cap="none">
                <a:solidFill>
                  <a:schemeClr val="bg1">
                    <a:lumMod val="85000"/>
                  </a:schemeClr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torie.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238125" y="213995"/>
            <a:ext cx="119538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F172A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Agentul 1: Discovery &amp; Compare</a:t>
            </a:r>
          </a:p>
        </p:txBody>
      </p:sp>
      <p:sp>
        <p:nvSpPr>
          <p:cNvPr id="130" name="Google Shape;130;p16"/>
          <p:cNvSpPr/>
          <p:nvPr/>
        </p:nvSpPr>
        <p:spPr>
          <a:xfrm>
            <a:off x="0" y="0"/>
            <a:ext cx="9525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762000" y="1484094"/>
            <a:ext cx="5300662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Căutare Inteligentă</a:t>
            </a:r>
          </a:p>
        </p:txBody>
      </p:sp>
      <p:sp>
        <p:nvSpPr>
          <p:cNvPr id="134" name="Google Shape;134;p16"/>
          <p:cNvSpPr txBox="1"/>
          <p:nvPr/>
        </p:nvSpPr>
        <p:spPr>
          <a:xfrm>
            <a:off x="1395095" y="2343249"/>
            <a:ext cx="4667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Zboruri: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Compară opțiuni în timp real din aeroportul ales.</a:t>
            </a:r>
          </a:p>
        </p:txBody>
      </p:sp>
      <p:sp>
        <p:nvSpPr>
          <p:cNvPr id="135" name="Google Shape;135;p16"/>
          <p:cNvSpPr txBox="1"/>
          <p:nvPr/>
        </p:nvSpPr>
        <p:spPr>
          <a:xfrm>
            <a:off x="1395095" y="3204071"/>
            <a:ext cx="4667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Cazări: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Selectează hoteluri pe baza rating-ului și a proximității.</a:t>
            </a:r>
          </a:p>
        </p:txBody>
      </p:sp>
      <p:sp>
        <p:nvSpPr>
          <p:cNvPr id="136" name="Google Shape;136;p16"/>
          <p:cNvSpPr txBox="1"/>
          <p:nvPr/>
        </p:nvSpPr>
        <p:spPr>
          <a:xfrm>
            <a:off x="1395095" y="4064635"/>
            <a:ext cx="4667250" cy="814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Selecție Utilizator: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Poți marca oferte preferate înainte de generarea planului final.</a:t>
            </a:r>
          </a:p>
        </p:txBody>
      </p:sp>
      <p:pic>
        <p:nvPicPr>
          <p:cNvPr id="2" name="Picture 1"/>
          <p:cNvPicPr/>
          <p:nvPr/>
        </p:nvPicPr>
        <p:blipFill>
          <a:blip r:embed="rId4"/>
          <a:stretch>
            <a:fillRect/>
          </a:stretch>
        </p:blipFill>
        <p:spPr>
          <a:xfrm>
            <a:off x="888365" y="2446020"/>
            <a:ext cx="274320" cy="274320"/>
          </a:xfrm>
          <a:prstGeom prst="rect">
            <a:avLst/>
          </a:prstGeom>
        </p:spPr>
      </p:pic>
      <p:pic>
        <p:nvPicPr>
          <p:cNvPr id="3" name="Picture 2"/>
          <p:cNvPicPr/>
          <p:nvPr/>
        </p:nvPicPr>
        <p:blipFill>
          <a:blip r:embed="rId5"/>
          <a:stretch>
            <a:fillRect/>
          </a:stretch>
        </p:blipFill>
        <p:spPr>
          <a:xfrm>
            <a:off x="831215" y="3263265"/>
            <a:ext cx="387985" cy="348615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6"/>
          <a:stretch>
            <a:fillRect/>
          </a:stretch>
        </p:blipFill>
        <p:spPr>
          <a:xfrm>
            <a:off x="762000" y="4154805"/>
            <a:ext cx="457200" cy="3657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5890" y="1075690"/>
            <a:ext cx="5492115" cy="50641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668020" y="381000"/>
            <a:ext cx="4750593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F172A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Agentul 2: Plannerul Day-by-Day</a:t>
            </a:r>
          </a:p>
        </p:txBody>
      </p:sp>
      <p:sp>
        <p:nvSpPr>
          <p:cNvPr id="149" name="Google Shape;149;p17"/>
          <p:cNvSpPr/>
          <p:nvPr/>
        </p:nvSpPr>
        <p:spPr>
          <a:xfrm>
            <a:off x="343535" y="259715"/>
            <a:ext cx="95250" cy="2057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668020" y="2486025"/>
            <a:ext cx="5000625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Itinerarul tău: O experiență structurată</a:t>
            </a:r>
          </a:p>
        </p:txBody>
      </p:sp>
      <p:sp>
        <p:nvSpPr>
          <p:cNvPr id="151" name="Google Shape;151;p17"/>
          <p:cNvSpPr txBox="1"/>
          <p:nvPr/>
        </p:nvSpPr>
        <p:spPr>
          <a:xfrm>
            <a:off x="628015" y="3259455"/>
            <a:ext cx="6722110" cy="1656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sz="1600" b="1" i="0" u="none" strike="noStrike" cap="none">
                <a:solidFill>
                  <a:srgbClr val="1E40A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Agentul</a:t>
            </a:r>
            <a:r>
              <a:rPr lang="en-US" altLang="en-US" sz="1600" b="1" i="0" u="none" strike="noStrike" cap="none">
                <a:solidFill>
                  <a:srgbClr val="1E40A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transform</a:t>
            </a:r>
            <a:r>
              <a:rPr lang="" altLang="en-US" sz="1600" b="1" i="0" u="none" strike="noStrike" cap="none">
                <a:solidFill>
                  <a:srgbClr val="1E40A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ă </a:t>
            </a:r>
            <a:r>
              <a:rPr lang="en-US" altLang="en-US" sz="1600" b="1" i="0" u="none" strike="noStrike" cap="none">
                <a:solidFill>
                  <a:srgbClr val="1E40A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op</a:t>
            </a:r>
            <a:r>
              <a:rPr lang="" altLang="en-US" sz="1600" b="1" i="0" u="none" strike="noStrike" cap="none">
                <a:solidFill>
                  <a:srgbClr val="1E40A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ț</a:t>
            </a:r>
            <a:r>
              <a:rPr lang="en-US" altLang="en-US" sz="1600" b="1" i="0" u="none" strike="noStrike" cap="none">
                <a:solidFill>
                  <a:srgbClr val="1E40A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iunile g</a:t>
            </a:r>
            <a:r>
              <a:rPr lang="" altLang="en-US" sz="1600" b="1" i="0" u="none" strike="noStrike" cap="none">
                <a:solidFill>
                  <a:srgbClr val="1E40A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ă</a:t>
            </a:r>
            <a:r>
              <a:rPr lang="en-US" altLang="en-US" sz="1600" b="1" i="0" u="none" strike="noStrike" cap="none">
                <a:solidFill>
                  <a:srgbClr val="1E40A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site într-un plan de c</a:t>
            </a:r>
            <a:r>
              <a:rPr lang="" altLang="en-US" sz="1600" b="1" i="0" u="none" strike="noStrike" cap="none">
                <a:solidFill>
                  <a:srgbClr val="1E40A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ă</a:t>
            </a:r>
            <a:r>
              <a:rPr lang="en-US" altLang="en-US" sz="1600" b="1" i="0" u="none" strike="noStrike" cap="none">
                <a:solidFill>
                  <a:srgbClr val="1E40A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l</a:t>
            </a:r>
            <a:r>
              <a:rPr lang="" altLang="en-US" sz="1600" b="1" i="0" u="none" strike="noStrike" cap="none">
                <a:solidFill>
                  <a:srgbClr val="1E40A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ă</a:t>
            </a:r>
            <a:r>
              <a:rPr lang="en-US" altLang="en-US" sz="1600" b="1" i="0" u="none" strike="noStrike" cap="none">
                <a:solidFill>
                  <a:srgbClr val="1E40A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torie coerent</a:t>
            </a:r>
            <a:r>
              <a:rPr lang="ro-RO" altLang="en-US" sz="1600" b="1" i="0" u="none" strike="noStrike" cap="none">
                <a:solidFill>
                  <a:srgbClr val="1E40A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</a:t>
            </a:r>
            <a:r>
              <a:rPr lang="en-US" altLang="en-US" sz="1600" b="1">
                <a:solidFill>
                  <a:srgbClr val="1E40A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și realist</a:t>
            </a:r>
            <a:r>
              <a:rPr lang="ro-RO" altLang="en-US" sz="1600" b="1">
                <a:solidFill>
                  <a:srgbClr val="1E40A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, </a:t>
            </a:r>
            <a:r>
              <a:rPr lang="ro-RO" altLang="en-US" sz="1600" b="1" i="0" u="none" strike="noStrike" cap="none">
                <a:solidFill>
                  <a:srgbClr val="1E40A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structurat pe perioade ale zilei. 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ro-RO" altLang="en-US" sz="1600" b="1" i="0" u="none" strike="noStrike" cap="none">
                <a:solidFill>
                  <a:srgbClr val="1E40A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Itinerariul este o</a:t>
            </a:r>
            <a:r>
              <a:rPr lang="en-US" altLang="en-US" sz="1600" b="1" i="0" u="none" strike="noStrike" cap="none">
                <a:solidFill>
                  <a:srgbClr val="1E40A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ptimizat logistic</a:t>
            </a:r>
            <a:r>
              <a:rPr lang="ro-RO" altLang="en-US" sz="1600" b="1" i="0" u="none" strike="noStrike" cap="none">
                <a:solidFill>
                  <a:srgbClr val="1E40A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deoarece </a:t>
            </a:r>
            <a:r>
              <a:rPr lang="en-US" sz="1600" b="1">
                <a:solidFill>
                  <a:srgbClr val="1E40A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corelează timpul de transport cu locația hotelului ales</a:t>
            </a:r>
            <a:r>
              <a:rPr lang="en-US" altLang="en-US" sz="1600" b="1" i="0" u="none" strike="noStrike" cap="none">
                <a:solidFill>
                  <a:srgbClr val="1E40A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</a:t>
            </a:r>
            <a:r>
              <a:rPr lang="" altLang="en-US" sz="1600" b="1" i="0" u="none" strike="noStrike" cap="none">
                <a:solidFill>
                  <a:srgbClr val="1E40A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ș</a:t>
            </a:r>
            <a:r>
              <a:rPr lang="en-US" altLang="en-US" sz="1600" b="1" i="0" u="none" strike="noStrike" cap="none">
                <a:solidFill>
                  <a:srgbClr val="1E40A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 adaptat stilului fiec</a:t>
            </a:r>
            <a:r>
              <a:rPr lang="" altLang="en-US" sz="1600" b="1" i="0" u="none" strike="noStrike" cap="none">
                <a:solidFill>
                  <a:srgbClr val="1E40A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ă</a:t>
            </a:r>
            <a:r>
              <a:rPr lang="en-US" altLang="en-US" sz="1600" b="1" i="0" u="none" strike="noStrike" cap="none">
                <a:solidFill>
                  <a:srgbClr val="1E40A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rui utilizator.</a:t>
            </a:r>
            <a:endParaRPr lang="en-US" sz="1600" b="1" i="0" u="none" strike="noStrike" cap="none">
              <a:solidFill>
                <a:srgbClr val="1E40AF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300480" y="5385435"/>
            <a:ext cx="2161540" cy="816610"/>
            <a:chOff x="4458" y="7743"/>
            <a:chExt cx="3345" cy="1184"/>
          </a:xfrm>
        </p:grpSpPr>
        <p:pic>
          <p:nvPicPr>
            <p:cNvPr id="146" name="Google Shape;146;p17" descr="image.png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4458" y="7743"/>
              <a:ext cx="1418" cy="11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" name="Google Shape;155;p17" descr="image.png"/>
            <p:cNvPicPr preferRelativeResize="0"/>
            <p:nvPr/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4685" y="7892"/>
              <a:ext cx="360" cy="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" name="Google Shape;156;p17"/>
            <p:cNvSpPr txBox="1"/>
            <p:nvPr/>
          </p:nvSpPr>
          <p:spPr>
            <a:xfrm>
              <a:off x="4685" y="8402"/>
              <a:ext cx="3118" cy="2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000000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Morning</a:t>
              </a:r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9270" y="316230"/>
            <a:ext cx="3218815" cy="630618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3035300" y="5372100"/>
            <a:ext cx="2049780" cy="751840"/>
            <a:chOff x="8290" y="7577"/>
            <a:chExt cx="3433" cy="1333"/>
          </a:xfrm>
        </p:grpSpPr>
        <p:pic>
          <p:nvPicPr>
            <p:cNvPr id="8" name="Google Shape;147;p17" descr="image.png"/>
            <p:cNvPicPr preferRelativeResize="0"/>
            <p:nvPr/>
          </p:nvPicPr>
          <p:blipFill rotWithShape="1">
            <a:blip r:embed="rId7"/>
            <a:srcRect/>
            <a:stretch>
              <a:fillRect/>
            </a:stretch>
          </p:blipFill>
          <p:spPr>
            <a:xfrm>
              <a:off x="8290" y="7577"/>
              <a:ext cx="1522" cy="13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158;p17" descr="image.png"/>
            <p:cNvPicPr preferRelativeResize="0"/>
            <p:nvPr/>
          </p:nvPicPr>
          <p:blipFill rotWithShape="1">
            <a:blip r:embed="rId8"/>
            <a:srcRect/>
            <a:stretch>
              <a:fillRect/>
            </a:stretch>
          </p:blipFill>
          <p:spPr>
            <a:xfrm>
              <a:off x="8605" y="7892"/>
              <a:ext cx="450" cy="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" name="Google Shape;159;p17"/>
            <p:cNvSpPr txBox="1"/>
            <p:nvPr/>
          </p:nvSpPr>
          <p:spPr>
            <a:xfrm>
              <a:off x="8605" y="8402"/>
              <a:ext cx="3118" cy="3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000000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Afternoon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718685" y="5371465"/>
            <a:ext cx="2049780" cy="751840"/>
            <a:chOff x="2846" y="8300"/>
            <a:chExt cx="3228" cy="1184"/>
          </a:xfrm>
        </p:grpSpPr>
        <p:pic>
          <p:nvPicPr>
            <p:cNvPr id="147" name="Google Shape;147;p17" descr="image.png"/>
            <p:cNvPicPr preferRelativeResize="0"/>
            <p:nvPr/>
          </p:nvPicPr>
          <p:blipFill rotWithShape="1">
            <a:blip r:embed="rId7"/>
            <a:srcRect/>
            <a:stretch>
              <a:fillRect/>
            </a:stretch>
          </p:blipFill>
          <p:spPr>
            <a:xfrm>
              <a:off x="2846" y="8300"/>
              <a:ext cx="1431" cy="11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" name="Google Shape;159;p17"/>
            <p:cNvSpPr txBox="1"/>
            <p:nvPr/>
          </p:nvSpPr>
          <p:spPr>
            <a:xfrm>
              <a:off x="3142" y="9033"/>
              <a:ext cx="2932" cy="2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o-RO" altLang="en-US" sz="1200" b="1" i="0" u="none" strike="noStrike" cap="none">
                  <a:solidFill>
                    <a:srgbClr val="000000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Evening</a:t>
              </a:r>
            </a:p>
          </p:txBody>
        </p:sp>
        <p:pic>
          <p:nvPicPr>
            <p:cNvPr id="11" name="Picture 10"/>
            <p:cNvPicPr/>
            <p:nvPr/>
          </p:nvPicPr>
          <p:blipFill>
            <a:blip r:embed="rId9"/>
            <a:stretch>
              <a:fillRect/>
            </a:stretch>
          </p:blipFill>
          <p:spPr>
            <a:xfrm>
              <a:off x="3142" y="8524"/>
              <a:ext cx="568" cy="452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238125" y="120650"/>
            <a:ext cx="119538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F172A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Stack Tehnologic &amp; Arhitectură</a:t>
            </a:r>
          </a:p>
        </p:txBody>
      </p:sp>
      <p:sp>
        <p:nvSpPr>
          <p:cNvPr id="168" name="Google Shape;168;p18"/>
          <p:cNvSpPr/>
          <p:nvPr/>
        </p:nvSpPr>
        <p:spPr>
          <a:xfrm>
            <a:off x="0" y="0"/>
            <a:ext cx="9525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676910" y="1191934"/>
            <a:ext cx="5300662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Modularitate &amp; Viteză</a:t>
            </a:r>
          </a:p>
        </p:txBody>
      </p:sp>
      <p:sp>
        <p:nvSpPr>
          <p:cNvPr id="173" name="Google Shape;173;p18"/>
          <p:cNvSpPr txBox="1"/>
          <p:nvPr/>
        </p:nvSpPr>
        <p:spPr>
          <a:xfrm>
            <a:off x="2747645" y="5480050"/>
            <a:ext cx="7965440" cy="405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CrewAI &amp; OpenAI: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Arhitectură multi-agent pentru procesare paralelă complexă.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387600" y="3850640"/>
            <a:ext cx="7183120" cy="1945640"/>
            <a:chOff x="3760" y="6064"/>
            <a:chExt cx="11312" cy="3064"/>
          </a:xfrm>
        </p:grpSpPr>
        <p:sp>
          <p:nvSpPr>
            <p:cNvPr id="171" name="Google Shape;171;p18"/>
            <p:cNvSpPr txBox="1"/>
            <p:nvPr/>
          </p:nvSpPr>
          <p:spPr>
            <a:xfrm>
              <a:off x="4327" y="6064"/>
              <a:ext cx="10745" cy="6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>
                  <a:solidFill>
                    <a:srgbClr val="475569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Frontend React:</a:t>
              </a:r>
              <a:r>
                <a:rPr lang="en-US" sz="1650" b="0" i="0" u="none" strike="noStrike" cap="none">
                  <a:solidFill>
                    <a:srgbClr val="475569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 Interfață SPA rapidă, state management pentru preferințe.</a:t>
              </a:r>
            </a:p>
          </p:txBody>
        </p:sp>
        <p:sp>
          <p:nvSpPr>
            <p:cNvPr id="172" name="Google Shape;172;p18"/>
            <p:cNvSpPr txBox="1"/>
            <p:nvPr/>
          </p:nvSpPr>
          <p:spPr>
            <a:xfrm>
              <a:off x="4327" y="7347"/>
              <a:ext cx="10745" cy="6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>
                  <a:solidFill>
                    <a:srgbClr val="475569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Backend FastAPI:</a:t>
              </a:r>
              <a:r>
                <a:rPr lang="en-US" sz="1650" b="0" i="0" u="none" strike="noStrike" cap="none">
                  <a:solidFill>
                    <a:srgbClr val="475569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 Endpoint-uri asincrone care orchestrează agenții AI.</a:t>
              </a:r>
            </a:p>
          </p:txBody>
        </p:sp>
        <p:pic>
          <p:nvPicPr>
            <p:cNvPr id="174" name="Google Shape;174;p18" descr="image.png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3760" y="6211"/>
              <a:ext cx="330" cy="3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p18" descr="image.png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3760" y="7519"/>
              <a:ext cx="330" cy="3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p18" descr="image.png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3760" y="8783"/>
              <a:ext cx="330" cy="3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" name="Picture 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6220" y="1774825"/>
            <a:ext cx="9417685" cy="161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238125" y="132080"/>
            <a:ext cx="11953875" cy="55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600" b="0" i="0" u="none" strike="noStrike" cap="none">
                <a:solidFill>
                  <a:srgbClr val="0F172A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 Competi</a:t>
            </a:r>
            <a:r>
              <a:rPr lang="" altLang="en-US" sz="3600" b="0" i="0" u="none" strike="noStrike" cap="none">
                <a:solidFill>
                  <a:srgbClr val="0F172A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ț</a:t>
            </a:r>
            <a:r>
              <a:rPr lang="en-US" altLang="en-US" sz="3600" b="0" i="0" u="none" strike="noStrike" cap="none">
                <a:solidFill>
                  <a:srgbClr val="0F172A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ie</a:t>
            </a:r>
          </a:p>
        </p:txBody>
      </p:sp>
      <p:sp>
        <p:nvSpPr>
          <p:cNvPr id="168" name="Google Shape;168;p18"/>
          <p:cNvSpPr/>
          <p:nvPr/>
        </p:nvSpPr>
        <p:spPr>
          <a:xfrm>
            <a:off x="0" y="0"/>
            <a:ext cx="9525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Google Shape;170;p18"/>
          <p:cNvSpPr txBox="1"/>
          <p:nvPr/>
        </p:nvSpPr>
        <p:spPr>
          <a:xfrm>
            <a:off x="658495" y="1126529"/>
            <a:ext cx="5300662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altLang="en-US" sz="18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Comparație soluții existente </a:t>
            </a:r>
            <a:r>
              <a:rPr lang="en-US" sz="18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&amp; </a:t>
            </a:r>
            <a:r>
              <a:rPr lang="ro-RO" altLang="en-US" sz="18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TravelMate AI</a:t>
            </a:r>
          </a:p>
        </p:txBody>
      </p:sp>
      <p:graphicFrame>
        <p:nvGraphicFramePr>
          <p:cNvPr id="6" name="Table 5"/>
          <p:cNvGraphicFramePr/>
          <p:nvPr/>
        </p:nvGraphicFramePr>
        <p:xfrm>
          <a:off x="1651635" y="1713230"/>
          <a:ext cx="8525510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1245"/>
                <a:gridCol w="1125855"/>
                <a:gridCol w="1266190"/>
                <a:gridCol w="1265555"/>
                <a:gridCol w="1264920"/>
                <a:gridCol w="1266190"/>
                <a:gridCol w="1265555"/>
              </a:tblGrid>
              <a:tr h="721360">
                <a:tc>
                  <a:txBody>
                    <a:bodyPr/>
                    <a:lstStyle/>
                    <a:p>
                      <a:r>
                        <a:rPr lang="en-US" altLang="zh-CN" sz="1100"/>
                        <a:t>Platformă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Căutare zboruri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Căutare cazare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Recomandări activități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Itinerariu automat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Optimizare logistică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AI multi-agent</a:t>
                      </a:r>
                    </a:p>
                  </a:txBody>
                  <a:tcPr marL="0" marR="0" marT="0" marB="0" anchor="ctr"/>
                </a:tc>
              </a:tr>
              <a:tr h="721360">
                <a:tc>
                  <a:txBody>
                    <a:bodyPr/>
                    <a:lstStyle/>
                    <a:p>
                      <a:r>
                        <a:rPr lang="en-US" altLang="zh-CN" sz="1100"/>
                        <a:t>Tripadvisor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✔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✔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✔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✖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✖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✖</a:t>
                      </a:r>
                    </a:p>
                  </a:txBody>
                  <a:tcPr marL="0" marR="0" marT="0" marB="0" anchor="ctr"/>
                </a:tc>
              </a:tr>
              <a:tr h="721360">
                <a:tc>
                  <a:txBody>
                    <a:bodyPr/>
                    <a:lstStyle/>
                    <a:p>
                      <a:r>
                        <a:rPr lang="en-US" altLang="zh-CN" sz="1100"/>
                        <a:t>Wanderlog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✔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✔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✔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✔ (manual)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✖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✖</a:t>
                      </a:r>
                    </a:p>
                  </a:txBody>
                  <a:tcPr marL="0" marR="0" marT="0" marB="0" anchor="ctr"/>
                </a:tc>
              </a:tr>
              <a:tr h="721360">
                <a:tc>
                  <a:txBody>
                    <a:bodyPr/>
                    <a:lstStyle/>
                    <a:p>
                      <a:r>
                        <a:rPr lang="en-US" altLang="zh-CN" sz="1100"/>
                        <a:t>Layla AI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✔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✔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✔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✔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✖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✖</a:t>
                      </a:r>
                    </a:p>
                  </a:txBody>
                  <a:tcPr marL="0" marR="0" marT="0" marB="0" anchor="ctr"/>
                </a:tc>
              </a:tr>
              <a:tr h="721360">
                <a:tc>
                  <a:txBody>
                    <a:bodyPr/>
                    <a:lstStyle/>
                    <a:p>
                      <a:r>
                        <a:rPr lang="en-US" altLang="zh-CN" sz="1100"/>
                        <a:t>TravelMate AI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✔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✔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✔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✔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✔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✔</a:t>
                      </a: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26" name="Text Box 25"/>
          <p:cNvSpPr txBox="1"/>
          <p:nvPr/>
        </p:nvSpPr>
        <p:spPr>
          <a:xfrm>
            <a:off x="1344930" y="5629910"/>
            <a:ext cx="9429750" cy="598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/>
            <a:r>
              <a:rPr lang="en-US" sz="16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</a:rPr>
              <a:t>Diferența nu este doar AI, ci orchestrarea inteligentă a mai multor agenți care construiesc un plan complet și optimizat.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/>
        </p:nvSpPr>
        <p:spPr>
          <a:xfrm>
            <a:off x="238125" y="158115"/>
            <a:ext cx="119538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F172A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Strategia de Monetizare</a:t>
            </a:r>
          </a:p>
        </p:txBody>
      </p:sp>
      <p:sp>
        <p:nvSpPr>
          <p:cNvPr id="207" name="Google Shape;207;p20"/>
          <p:cNvSpPr/>
          <p:nvPr/>
        </p:nvSpPr>
        <p:spPr>
          <a:xfrm>
            <a:off x="0" y="0"/>
            <a:ext cx="9525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208" name="Google Shape;208;p20"/>
          <p:cNvGraphicFramePr/>
          <p:nvPr/>
        </p:nvGraphicFramePr>
        <p:xfrm>
          <a:off x="762000" y="1924050"/>
          <a:ext cx="10668000" cy="2247900"/>
        </p:xfrm>
        <a:graphic>
          <a:graphicData uri="http://schemas.openxmlformats.org/drawingml/2006/table">
            <a:tbl>
              <a:tblPr firstRow="1" bandRow="1">
                <a:noFill/>
                <a:tableStyleId>{98158FA9-9EF3-481E-AAB3-DC8CBACF9F51}</a:tableStyleId>
              </a:tblPr>
              <a:tblGrid>
                <a:gridCol w="2667000"/>
                <a:gridCol w="5867400"/>
                <a:gridCol w="2133600"/>
              </a:tblGrid>
              <a:tr h="56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Sursă Venit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Descriere Detaliată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Potențial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Afiliere Zboruri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Comisioane de 3-7% din fiecare rezervare finalizată prin link-uri partenere.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0B981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Ridicat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Premium Itinerary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Export PDF, itinerarii nelimitate și suport pentru colaborare în grup (SaaS).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B82F6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Mediu/Stabil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Local Experience Ads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Restaurantele și tururile locale plătesc pentru a fi recomandate prioritar de AI.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0B981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Scalabil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09" name="Google Shape;209;p20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62000" y="4869180"/>
            <a:ext cx="106680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/>
          <p:nvPr/>
        </p:nvSpPr>
        <p:spPr>
          <a:xfrm>
            <a:off x="762000" y="3071812"/>
            <a:ext cx="26670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3429000" y="3071812"/>
            <a:ext cx="58674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9296400" y="3071812"/>
            <a:ext cx="21336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762000" y="3614737"/>
            <a:ext cx="26670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3429000" y="3614737"/>
            <a:ext cx="58674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9296400" y="3614737"/>
            <a:ext cx="21336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762000" y="4157662"/>
            <a:ext cx="26670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3429000" y="4157662"/>
            <a:ext cx="58674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9296400" y="4157662"/>
            <a:ext cx="21336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1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238125" y="176530"/>
            <a:ext cx="119538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F172A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Planificare (Roadmap 2026)</a:t>
            </a:r>
          </a:p>
        </p:txBody>
      </p:sp>
      <p:sp>
        <p:nvSpPr>
          <p:cNvPr id="225" name="Google Shape;225;p21"/>
          <p:cNvSpPr/>
          <p:nvPr/>
        </p:nvSpPr>
        <p:spPr>
          <a:xfrm>
            <a:off x="0" y="0"/>
            <a:ext cx="9525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160655" y="1965325"/>
            <a:ext cx="3076575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2563E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Milestone 1: Prototip funcțional (</a:t>
            </a:r>
            <a:r>
              <a:rPr lang="ro-RO" altLang="en-US" b="1" i="0" u="none" strike="noStrike" cap="none">
                <a:solidFill>
                  <a:srgbClr val="2563E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</a:t>
            </a:r>
            <a:r>
              <a:rPr lang="en-US" b="1" i="0" u="none" strike="noStrike" cap="none">
                <a:solidFill>
                  <a:srgbClr val="2563E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3)</a:t>
            </a:r>
          </a:p>
        </p:txBody>
      </p:sp>
      <p:sp>
        <p:nvSpPr>
          <p:cNvPr id="228" name="Google Shape;228;p21"/>
          <p:cNvSpPr txBox="1"/>
          <p:nvPr/>
        </p:nvSpPr>
        <p:spPr>
          <a:xfrm>
            <a:off x="8793480" y="5997575"/>
            <a:ext cx="2863215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10B98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Milestone 2: Lansare Publică (</a:t>
            </a:r>
            <a:r>
              <a:rPr lang="ro-RO" altLang="en-US" b="1" i="0" u="none" strike="noStrike" cap="none">
                <a:solidFill>
                  <a:srgbClr val="10B98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</a:t>
            </a:r>
            <a:r>
              <a:rPr lang="en-US" b="1" i="0" u="none" strike="noStrike" cap="none">
                <a:solidFill>
                  <a:srgbClr val="10B98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6)</a:t>
            </a:r>
          </a:p>
        </p:txBody>
      </p:sp>
      <p:sp>
        <p:nvSpPr>
          <p:cNvPr id="229" name="Google Shape;229;p21"/>
          <p:cNvSpPr/>
          <p:nvPr/>
        </p:nvSpPr>
        <p:spPr>
          <a:xfrm>
            <a:off x="762000" y="2881312"/>
            <a:ext cx="466605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5428059" y="2881312"/>
            <a:ext cx="93657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6364634" y="2881312"/>
            <a:ext cx="100607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7370712" y="2881312"/>
            <a:ext cx="100607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8376791" y="2881312"/>
            <a:ext cx="102334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9400133" y="2881312"/>
            <a:ext cx="100607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10406211" y="2881312"/>
            <a:ext cx="102378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762000" y="3414712"/>
            <a:ext cx="466605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5428059" y="3414712"/>
            <a:ext cx="93657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6364634" y="3414712"/>
            <a:ext cx="100607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7370712" y="3414712"/>
            <a:ext cx="100607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8376791" y="3414712"/>
            <a:ext cx="102334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9400133" y="3414712"/>
            <a:ext cx="100607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10406211" y="3414712"/>
            <a:ext cx="102378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762000" y="3957637"/>
            <a:ext cx="466605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5428059" y="3957637"/>
            <a:ext cx="93657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6364634" y="3957637"/>
            <a:ext cx="100607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7370712" y="3957637"/>
            <a:ext cx="100607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8376791" y="3957637"/>
            <a:ext cx="102334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9400133" y="3957637"/>
            <a:ext cx="100607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10406211" y="3957637"/>
            <a:ext cx="102378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762000" y="4491037"/>
            <a:ext cx="466605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5428059" y="4491037"/>
            <a:ext cx="93657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6364634" y="4491037"/>
            <a:ext cx="100607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7370712" y="4491037"/>
            <a:ext cx="100607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8376791" y="4491037"/>
            <a:ext cx="102334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9400133" y="4491037"/>
            <a:ext cx="100607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10406211" y="4491037"/>
            <a:ext cx="102378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762000" y="5024437"/>
            <a:ext cx="466605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5428059" y="5024437"/>
            <a:ext cx="93657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6364634" y="5024437"/>
            <a:ext cx="100607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7370712" y="5024437"/>
            <a:ext cx="100607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8376791" y="5024437"/>
            <a:ext cx="102334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9400133" y="5024437"/>
            <a:ext cx="100607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10406211" y="5024437"/>
            <a:ext cx="102378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64" name="Google Shape;264;p21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60655" y="202819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1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641337" y="606044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2320" y="1033780"/>
            <a:ext cx="5054600" cy="5179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372870" y="527050"/>
            <a:ext cx="8637905" cy="580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60000"/>
              </a:spcAft>
            </a:pPr>
            <a:r>
              <a:rPr lang="en-US" altLang="zh-CN" sz="2800" b="1"/>
              <a:t>Slide 9: Roadmap / Viitor</a:t>
            </a:r>
          </a:p>
          <a:p>
            <a:pPr>
              <a:spcAft>
                <a:spcPct val="60000"/>
              </a:spcAft>
            </a:pPr>
            <a:r>
              <a:rPr lang="zh-CN" altLang="en-US" sz="2300" b="1"/>
              <a:t>🔮 </a:t>
            </a:r>
            <a:r>
              <a:rPr lang="en-US" altLang="zh-CN" sz="2300" b="1"/>
              <a:t>Evoluția TravelMate AI</a:t>
            </a:r>
          </a:p>
          <a:p>
            <a:pPr>
              <a:spcAft>
                <a:spcPct val="60000"/>
              </a:spcAft>
            </a:pPr>
            <a:r>
              <a:rPr lang="zh-CN" altLang="en-US" sz="2200" b="1"/>
              <a:t>🧠 </a:t>
            </a:r>
            <a:r>
              <a:rPr lang="en-US" altLang="zh-CN" sz="2200" b="1"/>
              <a:t>Faza 1 – MVP (actual)</a:t>
            </a:r>
          </a:p>
          <a:p>
            <a:r>
              <a:rPr lang="en-US" altLang="zh-CN" sz="1600"/>
              <a:t>✔ Căutare zboruri, cazare, activități</a:t>
            </a:r>
          </a:p>
          <a:p>
            <a:r>
              <a:rPr lang="en-US" altLang="zh-CN" sz="1600"/>
              <a:t> ✔ Generare itinerariu automat</a:t>
            </a:r>
          </a:p>
          <a:p>
            <a:r>
              <a:rPr lang="en-US" altLang="zh-CN" sz="1600"/>
              <a:t> ✔ Interfață web funcțională</a:t>
            </a:r>
          </a:p>
          <a:p>
            <a:pPr>
              <a:spcAft>
                <a:spcPct val="60000"/>
              </a:spcAft>
            </a:pPr>
            <a:r>
              <a:rPr lang="zh-CN" altLang="en-US" sz="2200" b="1"/>
              <a:t>📈 </a:t>
            </a:r>
            <a:r>
              <a:rPr lang="en-US" altLang="zh-CN" sz="2200" b="1"/>
              <a:t>Faza 2 – Extindere (short-term)</a:t>
            </a:r>
          </a:p>
          <a:p>
            <a:r>
              <a:rPr lang="en-US" altLang="zh-CN" sz="1600"/>
              <a:t>✔ Agent 3 – Price Monitoring</a:t>
            </a:r>
          </a:p>
          <a:p>
            <a:r>
              <a:rPr lang="en-US" altLang="zh-CN" sz="1600"/>
              <a:t> → notificări automate când prețurile scad</a:t>
            </a:r>
          </a:p>
          <a:p>
            <a:r>
              <a:rPr lang="en-US" altLang="zh-CN" sz="1600"/>
              <a:t>✔ Integrare booking real</a:t>
            </a:r>
          </a:p>
          <a:p>
            <a:r>
              <a:rPr lang="en-US" altLang="zh-CN" sz="1600"/>
              <a:t> → rezervări directe din aplicație</a:t>
            </a:r>
          </a:p>
          <a:p>
            <a:pPr>
              <a:spcAft>
                <a:spcPct val="60000"/>
              </a:spcAft>
            </a:pPr>
            <a:r>
              <a:rPr lang="zh-CN" altLang="en-US" sz="2200" b="1"/>
              <a:t>📱 </a:t>
            </a:r>
            <a:r>
              <a:rPr lang="en-US" altLang="zh-CN" sz="2200" b="1"/>
              <a:t>Faza 3 – Scalare (mid-term)</a:t>
            </a:r>
          </a:p>
          <a:p>
            <a:r>
              <a:rPr lang="en-US" altLang="zh-CN" sz="1600"/>
              <a:t>✔ Aplicație mobilă (iOS &amp; Android)</a:t>
            </a:r>
          </a:p>
          <a:p>
            <a:r>
              <a:rPr lang="en-US" altLang="zh-CN" sz="1600"/>
              <a:t> → acces rapid și notificări în timp real</a:t>
            </a:r>
          </a:p>
          <a:p>
            <a:r>
              <a:rPr lang="en-US" altLang="zh-CN" sz="1600"/>
              <a:t>✔ Recomandări AI avansate</a:t>
            </a:r>
          </a:p>
          <a:p>
            <a:r>
              <a:rPr lang="en-US" altLang="zh-CN" sz="1600"/>
              <a:t> → sugestii bazate pe comportamentul utilizatorului</a:t>
            </a:r>
          </a:p>
        </p:txBody>
      </p:sp>
      <p:pic>
        <p:nvPicPr>
          <p:cNvPr id="223" name="Google Shape;223;p21" descr="image.png"/>
          <p:cNvPicPr preferRelativeResize="0"/>
          <p:nvPr/>
        </p:nvPicPr>
        <p:blipFill rotWithShape="1">
          <a:blip r:embed="rId18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238125" y="176530"/>
            <a:ext cx="11953875" cy="55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altLang="en-US" sz="3600" b="0" i="0" u="none" strike="noStrike" cap="none">
                <a:solidFill>
                  <a:srgbClr val="0F172A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Dezvoltari v</a:t>
            </a:r>
            <a:r>
              <a:rPr lang="en-US" altLang="en-US" sz="3600" b="0" i="0" u="none" strike="noStrike" cap="none">
                <a:solidFill>
                  <a:srgbClr val="0F172A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iito</a:t>
            </a:r>
            <a:r>
              <a:rPr lang="ro-RO" altLang="en-US" sz="3600" b="0" i="0" u="none" strike="noStrike" cap="none">
                <a:solidFill>
                  <a:srgbClr val="0F172A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a</a:t>
            </a:r>
            <a:r>
              <a:rPr lang="en-US" altLang="en-US" sz="3600" b="0" i="0" u="none" strike="noStrike" cap="none">
                <a:solidFill>
                  <a:srgbClr val="0F172A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r</a:t>
            </a:r>
            <a:r>
              <a:rPr lang="ro-RO" altLang="en-US" sz="3600" b="0" i="0" u="none" strike="noStrike" cap="none">
                <a:solidFill>
                  <a:srgbClr val="0F172A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e</a:t>
            </a:r>
          </a:p>
        </p:txBody>
      </p:sp>
      <p:sp>
        <p:nvSpPr>
          <p:cNvPr id="225" name="Google Shape;225;p21"/>
          <p:cNvSpPr/>
          <p:nvPr/>
        </p:nvSpPr>
        <p:spPr>
          <a:xfrm>
            <a:off x="0" y="0"/>
            <a:ext cx="9525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矩形: 圆角 2"/>
          <p:cNvSpPr/>
          <p:nvPr>
            <p:custDataLst>
              <p:tags r:id="rId1"/>
            </p:custDataLst>
          </p:nvPr>
        </p:nvSpPr>
        <p:spPr>
          <a:xfrm>
            <a:off x="6238875" y="1318260"/>
            <a:ext cx="5193030" cy="2112010"/>
          </a:xfrm>
          <a:prstGeom prst="roundRect">
            <a:avLst>
              <a:gd name="adj" fmla="val 14162"/>
            </a:avLst>
          </a:prstGeom>
          <a:solidFill>
            <a:srgbClr val="FFFFFF"/>
          </a:solidFill>
          <a:ln w="3175" cap="flat" cmpd="sng" algn="ctr">
            <a:solidFill>
              <a:srgbClr val="376FFF">
                <a:lumMod val="100000"/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st="50800" dir="5400000" algn="ctr" rotWithShape="0">
              <a:srgbClr val="376FFF">
                <a:alpha val="20000"/>
              </a:srgbClr>
            </a:outerShdw>
          </a:effectLst>
        </p:spPr>
        <p:txBody>
          <a:bodyPr lIns="0" rIns="0" rtlCol="0" anchor="ctr">
            <a:noAutofit/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椭圆 1"/>
          <p:cNvSpPr/>
          <p:nvPr>
            <p:custDataLst>
              <p:tags r:id="rId2"/>
            </p:custDataLst>
          </p:nvPr>
        </p:nvSpPr>
        <p:spPr>
          <a:xfrm>
            <a:off x="6512560" y="1598930"/>
            <a:ext cx="540001" cy="540000"/>
          </a:xfrm>
          <a:prstGeom prst="ellipse">
            <a:avLst/>
          </a:prstGeom>
          <a:gradFill>
            <a:gsLst>
              <a:gs pos="0">
                <a:srgbClr val="376FFF"/>
              </a:gs>
              <a:gs pos="100000">
                <a:srgbClr val="376FFF">
                  <a:lumMod val="75000"/>
                </a:srgbClr>
              </a:gs>
            </a:gsLst>
            <a:lin ang="7686814" scaled="0"/>
          </a:gradFill>
          <a:ln w="25400" cap="flat" cmpd="sng" algn="ctr">
            <a:noFill/>
            <a:prstDash val="solid"/>
            <a:miter lim="800000"/>
          </a:ln>
          <a:effectLst>
            <a:outerShdw blurRad="254000" dist="76200" dir="5399998" algn="ctr" rotWithShape="0">
              <a:srgbClr val="376FFF">
                <a:alpha val="25000"/>
              </a:srgbClr>
            </a:outerShdw>
          </a:effectLst>
        </p:spPr>
        <p:txBody>
          <a:bodyPr wrap="none" lIns="0" tIns="0" rIns="0" bIns="0" anchor="ctr" anchorCtr="0">
            <a:noAutofit/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en-US" sz="2000" b="1" kern="1200">
                <a:solidFill>
                  <a:srgbClr val="FFFFFF">
                    <a:lumMod val="100000"/>
                  </a:srgbClr>
                </a:solidFill>
                <a:latin typeface="Arial" panose="020B0604020202020204" pitchFamily="34" charset="0"/>
                <a:sym typeface="Microsoft YaHei" panose="020B0503020204020204" charset="-122"/>
              </a:rPr>
              <a:t>02</a:t>
            </a:r>
          </a:p>
        </p:txBody>
      </p:sp>
      <p:sp>
        <p:nvSpPr>
          <p:cNvPr id="7" name="矩形 3"/>
          <p:cNvSpPr/>
          <p:nvPr>
            <p:custDataLst>
              <p:tags r:id="rId3"/>
            </p:custDataLst>
          </p:nvPr>
        </p:nvSpPr>
        <p:spPr>
          <a:xfrm>
            <a:off x="7375525" y="2103120"/>
            <a:ext cx="3700781" cy="11410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fontScale="92500"/>
          </a:bodyPr>
          <a:lstStyle/>
          <a:p>
            <a:pPr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sz="1400" kern="120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ea typeface="Microsoft YaHei" panose="020B0503020204020204" charset="-122"/>
                <a:cs typeface="+mn-ea"/>
                <a:sym typeface="Microsoft YaHei" panose="020B0503020204020204" charset="-122"/>
              </a:rPr>
              <a:t>✔</a:t>
            </a:r>
            <a:r>
              <a:rPr lang="en-US" altLang="zh-CN" sz="1400" kern="120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ea typeface="Microsoft YaHei" panose="020B0503020204020204" charset="-122"/>
                <a:cs typeface="+mn-ea"/>
                <a:sym typeface="Microsoft YaHei" panose="020B0503020204020204" charset="-122"/>
              </a:rPr>
              <a:t> Agent 3 – Price Monitoring → notificări automate când prețurile scad</a:t>
            </a:r>
          </a:p>
          <a:p>
            <a:pPr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400" kern="120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ea typeface="Microsoft YaHei" panose="020B0503020204020204" charset="-122"/>
                <a:cs typeface="+mn-ea"/>
                <a:sym typeface="Microsoft YaHei" panose="020B0503020204020204" charset="-122"/>
              </a:rPr>
              <a:t>✔</a:t>
            </a:r>
            <a:r>
              <a:rPr lang="en-US" altLang="zh-CN" sz="1400" kern="120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ea typeface="Microsoft YaHei" panose="020B0503020204020204" charset="-122"/>
                <a:cs typeface="+mn-ea"/>
                <a:sym typeface="Microsoft YaHei" panose="020B0503020204020204" charset="-122"/>
              </a:rPr>
              <a:t> Integrare booking real → rezervări directe din aplicație</a:t>
            </a:r>
          </a:p>
        </p:txBody>
      </p:sp>
      <p:sp>
        <p:nvSpPr>
          <p:cNvPr id="8" name="矩形 4"/>
          <p:cNvSpPr/>
          <p:nvPr>
            <p:custDataLst>
              <p:tags r:id="rId4"/>
            </p:custDataLst>
          </p:nvPr>
        </p:nvSpPr>
        <p:spPr>
          <a:xfrm>
            <a:off x="7375525" y="1497330"/>
            <a:ext cx="3700781" cy="45910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 fontScale="97500"/>
          </a:bodyPr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lang="zh-CN" sz="1800" b="1" kern="1200" dirty="0">
                <a:solidFill>
                  <a:srgbClr val="000000">
                    <a:lumMod val="100000"/>
                  </a:srgbClr>
                </a:solidFill>
                <a:latin typeface="Arial" panose="020B0604020202020204" pitchFamily="34" charset="0"/>
                <a:ea typeface="Microsoft YaHei" panose="020B0503020204020204" charset="-122"/>
                <a:cs typeface="+mn-ea"/>
                <a:sym typeface="Microsoft YaHei" panose="020B0503020204020204" charset="-122"/>
              </a:rPr>
              <a:t>📈</a:t>
            </a:r>
            <a:r>
              <a:rPr lang="en-US" altLang="zh-CN" sz="1800" b="1" kern="1200" dirty="0">
                <a:solidFill>
                  <a:srgbClr val="000000">
                    <a:lumMod val="100000"/>
                  </a:srgbClr>
                </a:solidFill>
                <a:latin typeface="Arial" panose="020B0604020202020204" pitchFamily="34" charset="0"/>
                <a:ea typeface="Microsoft YaHei" panose="020B0503020204020204" charset="-122"/>
                <a:cs typeface="+mn-ea"/>
                <a:sym typeface="Microsoft YaHei" panose="020B0503020204020204" charset="-122"/>
              </a:rPr>
              <a:t>   Faza 2 – Extindere (short-term)</a:t>
            </a:r>
          </a:p>
        </p:txBody>
      </p:sp>
      <p:sp>
        <p:nvSpPr>
          <p:cNvPr id="14" name="矩形: 圆角 13"/>
          <p:cNvSpPr/>
          <p:nvPr>
            <p:custDataLst>
              <p:tags r:id="rId5"/>
            </p:custDataLst>
          </p:nvPr>
        </p:nvSpPr>
        <p:spPr>
          <a:xfrm>
            <a:off x="6238875" y="3858260"/>
            <a:ext cx="5193030" cy="2112010"/>
          </a:xfrm>
          <a:prstGeom prst="roundRect">
            <a:avLst>
              <a:gd name="adj" fmla="val 12731"/>
            </a:avLst>
          </a:prstGeom>
          <a:solidFill>
            <a:srgbClr val="FFFFFF"/>
          </a:solidFill>
          <a:ln w="3175" cap="flat" cmpd="sng" algn="ctr">
            <a:solidFill>
              <a:srgbClr val="376FFF">
                <a:lumMod val="100000"/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st="50800" dir="5400000" algn="ctr" rotWithShape="0">
              <a:srgbClr val="376FFF">
                <a:alpha val="20000"/>
              </a:srgbClr>
            </a:outerShdw>
          </a:effectLst>
        </p:spPr>
        <p:txBody>
          <a:bodyPr lIns="0" rIns="0" rtlCol="0" anchor="ctr">
            <a:noAutofit/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椭圆 5"/>
          <p:cNvSpPr/>
          <p:nvPr>
            <p:custDataLst>
              <p:tags r:id="rId6"/>
            </p:custDataLst>
          </p:nvPr>
        </p:nvSpPr>
        <p:spPr>
          <a:xfrm>
            <a:off x="6512560" y="4138930"/>
            <a:ext cx="540001" cy="540000"/>
          </a:xfrm>
          <a:prstGeom prst="ellipse">
            <a:avLst/>
          </a:prstGeom>
          <a:gradFill>
            <a:gsLst>
              <a:gs pos="0">
                <a:srgbClr val="376FFF"/>
              </a:gs>
              <a:gs pos="100000">
                <a:srgbClr val="376FFF">
                  <a:lumMod val="75000"/>
                </a:srgbClr>
              </a:gs>
            </a:gsLst>
            <a:lin ang="7686814" scaled="0"/>
          </a:gradFill>
          <a:ln w="25400" cap="flat" cmpd="sng" algn="ctr">
            <a:noFill/>
            <a:prstDash val="solid"/>
            <a:miter lim="800000"/>
          </a:ln>
          <a:effectLst>
            <a:outerShdw blurRad="254000" dist="76200" dir="5399998" algn="ctr" rotWithShape="0">
              <a:srgbClr val="376FFF">
                <a:alpha val="25000"/>
              </a:srgbClr>
            </a:outerShdw>
          </a:effectLst>
        </p:spPr>
        <p:txBody>
          <a:bodyPr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en-US" sz="2000" b="1" kern="1200">
                <a:solidFill>
                  <a:srgbClr val="FFFFFF">
                    <a:lumMod val="100000"/>
                  </a:srgbClr>
                </a:solidFill>
                <a:latin typeface="Arial" panose="020B0604020202020204" pitchFamily="34" charset="0"/>
                <a:sym typeface="Microsoft YaHei" panose="020B0503020204020204" charset="-122"/>
              </a:rPr>
              <a:t>04</a:t>
            </a:r>
          </a:p>
        </p:txBody>
      </p:sp>
      <p:sp>
        <p:nvSpPr>
          <p:cNvPr id="10" name="矩形 7"/>
          <p:cNvSpPr/>
          <p:nvPr>
            <p:custDataLst>
              <p:tags r:id="rId7"/>
            </p:custDataLst>
          </p:nvPr>
        </p:nvSpPr>
        <p:spPr>
          <a:xfrm>
            <a:off x="7375525" y="4643120"/>
            <a:ext cx="3700781" cy="11410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fontScale="92500"/>
          </a:bodyPr>
          <a:lstStyle/>
          <a:p>
            <a:pPr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sz="1400" kern="12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ea typeface="Microsoft YaHei" panose="020B0503020204020204" charset="-122"/>
                <a:cs typeface="+mn-ea"/>
                <a:sym typeface="Microsoft YaHei" panose="020B0503020204020204" charset="-122"/>
              </a:rPr>
              <a:t>✔</a:t>
            </a:r>
            <a:r>
              <a:rPr lang="en-US" altLang="zh-CN" sz="1400" kern="12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ea typeface="Microsoft YaHei" panose="020B0503020204020204" charset="-122"/>
                <a:cs typeface="+mn-ea"/>
                <a:sym typeface="Microsoft YaHei" panose="020B0503020204020204" charset="-122"/>
              </a:rPr>
              <a:t> Asistent AI complet pentru travel</a:t>
            </a:r>
          </a:p>
          <a:p>
            <a:pPr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400" kern="12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ea typeface="Microsoft YaHei" panose="020B0503020204020204" charset="-122"/>
                <a:cs typeface="+mn-ea"/>
                <a:sym typeface="Microsoft YaHei" panose="020B0503020204020204" charset="-122"/>
              </a:rPr>
              <a:t>✔</a:t>
            </a:r>
            <a:r>
              <a:rPr lang="en-US" altLang="zh-CN" sz="1400" kern="12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ea typeface="Microsoft YaHei" panose="020B0503020204020204" charset="-122"/>
                <a:cs typeface="+mn-ea"/>
                <a:sym typeface="Microsoft YaHei" panose="020B0503020204020204" charset="-122"/>
              </a:rPr>
              <a:t> integrare cu calendare, notificări, evenimente</a:t>
            </a:r>
          </a:p>
          <a:p>
            <a:pPr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400" kern="12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ea typeface="Microsoft YaHei" panose="020B0503020204020204" charset="-122"/>
                <a:cs typeface="+mn-ea"/>
                <a:sym typeface="Microsoft YaHei" panose="020B0503020204020204" charset="-122"/>
              </a:rPr>
              <a:t>✔</a:t>
            </a:r>
            <a:r>
              <a:rPr lang="en-US" altLang="zh-CN" sz="1400" kern="12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ea typeface="Microsoft YaHei" panose="020B0503020204020204" charset="-122"/>
                <a:cs typeface="+mn-ea"/>
                <a:sym typeface="Microsoft YaHei" panose="020B0503020204020204" charset="-122"/>
              </a:rPr>
              <a:t> personalizare completă end-to-end</a:t>
            </a:r>
          </a:p>
        </p:txBody>
      </p:sp>
      <p:sp>
        <p:nvSpPr>
          <p:cNvPr id="11" name="矩形 8"/>
          <p:cNvSpPr/>
          <p:nvPr>
            <p:custDataLst>
              <p:tags r:id="rId8"/>
            </p:custDataLst>
          </p:nvPr>
        </p:nvSpPr>
        <p:spPr>
          <a:xfrm>
            <a:off x="7375525" y="4037330"/>
            <a:ext cx="3700781" cy="45910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lang="zh-CN" sz="1800" b="1" kern="1200" dirty="0">
                <a:solidFill>
                  <a:srgbClr val="000000">
                    <a:lumMod val="100000"/>
                  </a:srgbClr>
                </a:solidFill>
                <a:latin typeface="Arial" panose="020B0604020202020204" pitchFamily="34" charset="0"/>
                <a:ea typeface="Microsoft YaHei" panose="020B0503020204020204" charset="-122"/>
                <a:cs typeface="+mn-ea"/>
                <a:sym typeface="Microsoft YaHei" panose="020B0503020204020204" charset="-122"/>
              </a:rPr>
              <a:t>🌍</a:t>
            </a:r>
            <a:r>
              <a:rPr lang="en-US" altLang="zh-CN" sz="1800" b="1" kern="1200" dirty="0">
                <a:solidFill>
                  <a:srgbClr val="000000">
                    <a:lumMod val="100000"/>
                  </a:srgbClr>
                </a:solidFill>
                <a:latin typeface="Arial" panose="020B0604020202020204" pitchFamily="34" charset="0"/>
                <a:ea typeface="Microsoft YaHei" panose="020B0503020204020204" charset="-122"/>
                <a:cs typeface="+mn-ea"/>
                <a:sym typeface="Microsoft YaHei" panose="020B0503020204020204" charset="-122"/>
              </a:rPr>
              <a:t>  Faza 4 – Vision (long-term)</a:t>
            </a:r>
          </a:p>
        </p:txBody>
      </p:sp>
      <p:sp>
        <p:nvSpPr>
          <p:cNvPr id="26" name="矩形: 圆角 25"/>
          <p:cNvSpPr/>
          <p:nvPr>
            <p:custDataLst>
              <p:tags r:id="rId9"/>
            </p:custDataLst>
          </p:nvPr>
        </p:nvSpPr>
        <p:spPr>
          <a:xfrm>
            <a:off x="629285" y="1318260"/>
            <a:ext cx="5193030" cy="2112010"/>
          </a:xfrm>
          <a:prstGeom prst="roundRect">
            <a:avLst>
              <a:gd name="adj" fmla="val 13447"/>
            </a:avLst>
          </a:prstGeom>
          <a:solidFill>
            <a:srgbClr val="FFFFFF"/>
          </a:solidFill>
          <a:ln w="3175" cap="flat" cmpd="sng" algn="ctr">
            <a:solidFill>
              <a:srgbClr val="376FFF">
                <a:lumMod val="100000"/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st="50800" dir="5400000" algn="ctr" rotWithShape="0">
              <a:srgbClr val="376FFF">
                <a:alpha val="20000"/>
              </a:srgbClr>
            </a:outerShdw>
          </a:effectLst>
        </p:spPr>
        <p:txBody>
          <a:bodyPr lIns="0" rIns="0" rtlCol="0" anchor="ctr">
            <a:noAutofit/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椭圆 10"/>
          <p:cNvSpPr/>
          <p:nvPr>
            <p:custDataLst>
              <p:tags r:id="rId10"/>
            </p:custDataLst>
          </p:nvPr>
        </p:nvSpPr>
        <p:spPr>
          <a:xfrm>
            <a:off x="902335" y="1598930"/>
            <a:ext cx="540000" cy="540000"/>
          </a:xfrm>
          <a:prstGeom prst="ellipse">
            <a:avLst/>
          </a:prstGeom>
          <a:gradFill>
            <a:gsLst>
              <a:gs pos="0">
                <a:srgbClr val="376FFF"/>
              </a:gs>
              <a:gs pos="100000">
                <a:srgbClr val="376FFF">
                  <a:lumMod val="75000"/>
                </a:srgbClr>
              </a:gs>
            </a:gsLst>
            <a:lin ang="7686814" scaled="0"/>
          </a:gradFill>
          <a:ln w="25400" cap="flat" cmpd="sng" algn="ctr">
            <a:noFill/>
            <a:prstDash val="solid"/>
            <a:miter lim="800000"/>
          </a:ln>
          <a:effectLst>
            <a:outerShdw blurRad="254000" dist="76200" dir="5399998" algn="ctr" rotWithShape="0">
              <a:srgbClr val="376FFF">
                <a:alpha val="25000"/>
              </a:srgbClr>
            </a:outerShdw>
          </a:effectLst>
        </p:spPr>
        <p:txBody>
          <a:bodyPr wrap="none" lIns="0" tIns="0" rIns="0" bIns="0" anchor="ctr" anchorCtr="0">
            <a:noAutofit/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en-US" sz="2000" b="1" kern="1200">
                <a:solidFill>
                  <a:srgbClr val="FFFFFF">
                    <a:lumMod val="100000"/>
                  </a:srgbClr>
                </a:solidFill>
                <a:latin typeface="Arial" panose="020B0604020202020204" pitchFamily="34" charset="0"/>
                <a:sym typeface="Microsoft YaHei" panose="020B0503020204020204" charset="-122"/>
              </a:rPr>
              <a:t>01</a:t>
            </a:r>
          </a:p>
        </p:txBody>
      </p:sp>
      <p:sp>
        <p:nvSpPr>
          <p:cNvPr id="13" name="矩形 12"/>
          <p:cNvSpPr/>
          <p:nvPr>
            <p:custDataLst>
              <p:tags r:id="rId11"/>
            </p:custDataLst>
          </p:nvPr>
        </p:nvSpPr>
        <p:spPr>
          <a:xfrm>
            <a:off x="1765300" y="2103120"/>
            <a:ext cx="3700780" cy="11410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sz="1400" kern="120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ea typeface="Microsoft YaHei" panose="020B0503020204020204" charset="-122"/>
                <a:cs typeface="+mn-ea"/>
                <a:sym typeface="Microsoft YaHei" panose="020B0503020204020204" charset="-122"/>
              </a:rPr>
              <a:t>✔</a:t>
            </a:r>
            <a:r>
              <a:rPr lang="en-US" altLang="zh-CN" sz="1400" kern="120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ea typeface="Microsoft YaHei" panose="020B0503020204020204" charset="-122"/>
                <a:cs typeface="+mn-ea"/>
                <a:sym typeface="Microsoft YaHei" panose="020B0503020204020204" charset="-122"/>
              </a:rPr>
              <a:t> Căutare zboruri, cazare, activități</a:t>
            </a:r>
          </a:p>
          <a:p>
            <a:pPr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400" kern="120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ea typeface="Microsoft YaHei" panose="020B0503020204020204" charset="-122"/>
                <a:cs typeface="+mn-ea"/>
                <a:sym typeface="Microsoft YaHei" panose="020B0503020204020204" charset="-122"/>
              </a:rPr>
              <a:t>✔</a:t>
            </a:r>
            <a:r>
              <a:rPr lang="en-US" altLang="zh-CN" sz="1400" kern="120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ea typeface="Microsoft YaHei" panose="020B0503020204020204" charset="-122"/>
                <a:cs typeface="+mn-ea"/>
                <a:sym typeface="Microsoft YaHei" panose="020B0503020204020204" charset="-122"/>
              </a:rPr>
              <a:t> Generare itinerariu automat</a:t>
            </a:r>
          </a:p>
          <a:p>
            <a:pPr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400" kern="120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ea typeface="Microsoft YaHei" panose="020B0503020204020204" charset="-122"/>
                <a:cs typeface="+mn-ea"/>
                <a:sym typeface="Microsoft YaHei" panose="020B0503020204020204" charset="-122"/>
              </a:rPr>
              <a:t>✔</a:t>
            </a:r>
            <a:r>
              <a:rPr lang="en-US" altLang="zh-CN" sz="1400" kern="120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ea typeface="Microsoft YaHei" panose="020B0503020204020204" charset="-122"/>
                <a:cs typeface="+mn-ea"/>
                <a:sym typeface="Microsoft YaHei" panose="020B0503020204020204" charset="-122"/>
              </a:rPr>
              <a:t> Interfață web funcțională</a:t>
            </a:r>
          </a:p>
        </p:txBody>
      </p:sp>
      <p:sp>
        <p:nvSpPr>
          <p:cNvPr id="18" name="矩形 17"/>
          <p:cNvSpPr/>
          <p:nvPr>
            <p:custDataLst>
              <p:tags r:id="rId12"/>
            </p:custDataLst>
          </p:nvPr>
        </p:nvSpPr>
        <p:spPr>
          <a:xfrm>
            <a:off x="1765300" y="1497330"/>
            <a:ext cx="3691890" cy="45910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lang="zh-CN" sz="1800" b="1" kern="1200" dirty="0">
                <a:solidFill>
                  <a:srgbClr val="000000">
                    <a:lumMod val="100000"/>
                  </a:srgbClr>
                </a:solidFill>
                <a:latin typeface="Arial" panose="020B0604020202020204" pitchFamily="34" charset="0"/>
                <a:ea typeface="Microsoft YaHei" panose="020B0503020204020204" charset="-122"/>
                <a:cs typeface="+mn-ea"/>
                <a:sym typeface="Microsoft YaHei" panose="020B0503020204020204" charset="-122"/>
              </a:rPr>
              <a:t>🧠</a:t>
            </a:r>
            <a:r>
              <a:rPr lang="en-US" altLang="zh-CN" sz="1800" b="1" kern="1200" dirty="0">
                <a:solidFill>
                  <a:srgbClr val="000000">
                    <a:lumMod val="100000"/>
                  </a:srgbClr>
                </a:solidFill>
                <a:latin typeface="Arial" panose="020B0604020202020204" pitchFamily="34" charset="0"/>
                <a:ea typeface="Microsoft YaHei" panose="020B0503020204020204" charset="-122"/>
                <a:cs typeface="+mn-ea"/>
                <a:sym typeface="Microsoft YaHei" panose="020B0503020204020204" charset="-122"/>
              </a:rPr>
              <a:t>   Faza 1 – MVP (actual)</a:t>
            </a:r>
          </a:p>
        </p:txBody>
      </p:sp>
      <p:sp>
        <p:nvSpPr>
          <p:cNvPr id="31" name="矩形: 圆角 30"/>
          <p:cNvSpPr/>
          <p:nvPr>
            <p:custDataLst>
              <p:tags r:id="rId13"/>
            </p:custDataLst>
          </p:nvPr>
        </p:nvSpPr>
        <p:spPr>
          <a:xfrm>
            <a:off x="629285" y="3858260"/>
            <a:ext cx="5193030" cy="2112010"/>
          </a:xfrm>
          <a:prstGeom prst="roundRect">
            <a:avLst>
              <a:gd name="adj" fmla="val 13089"/>
            </a:avLst>
          </a:prstGeom>
          <a:solidFill>
            <a:srgbClr val="FFFFFF"/>
          </a:solidFill>
          <a:ln w="3175" cap="flat" cmpd="sng" algn="ctr">
            <a:solidFill>
              <a:srgbClr val="376FFF">
                <a:lumMod val="100000"/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st="50800" dir="5400000" algn="ctr" rotWithShape="0">
              <a:srgbClr val="376FFF">
                <a:alpha val="20000"/>
              </a:srgbClr>
            </a:outerShdw>
          </a:effectLst>
        </p:spPr>
        <p:txBody>
          <a:bodyPr lIns="0" rIns="0" rtlCol="0" anchor="ctr">
            <a:noAutofit/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en-US" sz="1800" kern="1200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9" name="椭圆 18"/>
          <p:cNvSpPr/>
          <p:nvPr>
            <p:custDataLst>
              <p:tags r:id="rId14"/>
            </p:custDataLst>
          </p:nvPr>
        </p:nvSpPr>
        <p:spPr>
          <a:xfrm>
            <a:off x="902335" y="4138930"/>
            <a:ext cx="540000" cy="540000"/>
          </a:xfrm>
          <a:prstGeom prst="ellipse">
            <a:avLst/>
          </a:prstGeom>
          <a:gradFill>
            <a:gsLst>
              <a:gs pos="0">
                <a:srgbClr val="376FFF"/>
              </a:gs>
              <a:gs pos="100000">
                <a:srgbClr val="376FFF">
                  <a:lumMod val="75000"/>
                </a:srgbClr>
              </a:gs>
            </a:gsLst>
            <a:lin ang="7686814" scaled="0"/>
          </a:gradFill>
          <a:ln w="25400" cap="flat" cmpd="sng" algn="ctr">
            <a:noFill/>
            <a:prstDash val="solid"/>
            <a:miter lim="800000"/>
          </a:ln>
          <a:effectLst>
            <a:outerShdw blurRad="254000" dist="76200" dir="5399998" algn="ctr" rotWithShape="0">
              <a:srgbClr val="376FFF">
                <a:alpha val="25000"/>
              </a:srgbClr>
            </a:outerShdw>
          </a:effectLst>
        </p:spPr>
        <p:txBody>
          <a:bodyPr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en-US" sz="2000" b="1" kern="1200">
                <a:solidFill>
                  <a:srgbClr val="FFFFFF">
                    <a:lumMod val="100000"/>
                  </a:srgbClr>
                </a:solidFill>
                <a:latin typeface="Arial" panose="020B0604020202020204" pitchFamily="34" charset="0"/>
                <a:sym typeface="Microsoft YaHei" panose="020B0503020204020204" charset="-122"/>
              </a:rPr>
              <a:t>03</a:t>
            </a:r>
          </a:p>
        </p:txBody>
      </p:sp>
      <p:sp>
        <p:nvSpPr>
          <p:cNvPr id="20" name="矩形 19"/>
          <p:cNvSpPr/>
          <p:nvPr>
            <p:custDataLst>
              <p:tags r:id="rId15"/>
            </p:custDataLst>
          </p:nvPr>
        </p:nvSpPr>
        <p:spPr>
          <a:xfrm>
            <a:off x="1765300" y="4643120"/>
            <a:ext cx="3700780" cy="11410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fontScale="92500"/>
          </a:bodyPr>
          <a:lstStyle/>
          <a:p>
            <a:pPr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sz="1400" kern="120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ea typeface="Microsoft YaHei" panose="020B0503020204020204" charset="-122"/>
                <a:cs typeface="+mn-ea"/>
                <a:sym typeface="Microsoft YaHei" panose="020B0503020204020204" charset="-122"/>
              </a:rPr>
              <a:t>✔</a:t>
            </a:r>
            <a:r>
              <a:rPr lang="en-US" altLang="zh-CN" sz="1400" kern="120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ea typeface="Microsoft YaHei" panose="020B0503020204020204" charset="-122"/>
                <a:cs typeface="+mn-ea"/>
                <a:sym typeface="Microsoft YaHei" panose="020B0503020204020204" charset="-122"/>
              </a:rPr>
              <a:t> Aplicație mobilă (iOS &amp; Android) → acces rapid și notificări în timp real</a:t>
            </a:r>
          </a:p>
          <a:p>
            <a:pPr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400" kern="120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ea typeface="Microsoft YaHei" panose="020B0503020204020204" charset="-122"/>
                <a:cs typeface="+mn-ea"/>
                <a:sym typeface="Microsoft YaHei" panose="020B0503020204020204" charset="-122"/>
              </a:rPr>
              <a:t>✔</a:t>
            </a:r>
            <a:r>
              <a:rPr lang="en-US" altLang="zh-CN" sz="1400" kern="120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ea typeface="Microsoft YaHei" panose="020B0503020204020204" charset="-122"/>
                <a:cs typeface="+mn-ea"/>
                <a:sym typeface="Microsoft YaHei" panose="020B0503020204020204" charset="-122"/>
              </a:rPr>
              <a:t> Recomandări AI avansate → sugestii bazate pe comportamentul utilizatorului</a:t>
            </a:r>
          </a:p>
        </p:txBody>
      </p:sp>
      <p:sp>
        <p:nvSpPr>
          <p:cNvPr id="21" name="矩形 20"/>
          <p:cNvSpPr/>
          <p:nvPr>
            <p:custDataLst>
              <p:tags r:id="rId16"/>
            </p:custDataLst>
          </p:nvPr>
        </p:nvSpPr>
        <p:spPr>
          <a:xfrm>
            <a:off x="1765300" y="4037330"/>
            <a:ext cx="3691890" cy="45910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lang="zh-CN" sz="1800" b="1" kern="1200">
                <a:solidFill>
                  <a:srgbClr val="000000">
                    <a:lumMod val="100000"/>
                  </a:srgbClr>
                </a:solidFill>
                <a:latin typeface="Arial" panose="020B0604020202020204" pitchFamily="34" charset="0"/>
                <a:ea typeface="Microsoft YaHei" panose="020B0503020204020204" charset="-122"/>
                <a:cs typeface="+mn-ea"/>
                <a:sym typeface="Microsoft YaHei" panose="020B0503020204020204" charset="-122"/>
              </a:rPr>
              <a:t>📱</a:t>
            </a:r>
            <a:r>
              <a:rPr lang="en-US" altLang="zh-CN" sz="1800" b="1" kern="1200">
                <a:solidFill>
                  <a:srgbClr val="000000">
                    <a:lumMod val="100000"/>
                  </a:srgbClr>
                </a:solidFill>
                <a:latin typeface="Arial" panose="020B0604020202020204" pitchFamily="34" charset="0"/>
                <a:ea typeface="Microsoft YaHei" panose="020B0503020204020204" charset="-122"/>
                <a:cs typeface="+mn-ea"/>
                <a:sym typeface="Microsoft YaHei" panose="020B0503020204020204" charset="-122"/>
              </a:rPr>
              <a:t>  Faza 3 – Scalare (mid-term)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22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2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95300" y="2781300"/>
            <a:ext cx="5640705" cy="3439160"/>
          </a:xfrm>
          <a:prstGeom prst="rect">
            <a:avLst/>
          </a:prstGeom>
          <a:noFill/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pic>
        <p:nvPicPr>
          <p:cNvPr id="272" name="Google Shape;272;p22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381750" y="3275965"/>
            <a:ext cx="5314950" cy="2780665"/>
          </a:xfrm>
          <a:prstGeom prst="rect">
            <a:avLst/>
          </a:prstGeom>
          <a:solidFill>
            <a:schemeClr val="tx2"/>
          </a:solidFill>
          <a:ln>
            <a:noFill/>
          </a:ln>
        </p:spPr>
      </p:pic>
      <p:sp>
        <p:nvSpPr>
          <p:cNvPr id="273" name="Google Shape;273;p22"/>
          <p:cNvSpPr txBox="1"/>
          <p:nvPr/>
        </p:nvSpPr>
        <p:spPr>
          <a:xfrm>
            <a:off x="495300" y="229492"/>
            <a:ext cx="1120140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1E3A8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Vă Mulțumim!</a:t>
            </a:r>
          </a:p>
        </p:txBody>
      </p:sp>
      <p:sp>
        <p:nvSpPr>
          <p:cNvPr id="274" name="Google Shape;274;p22"/>
          <p:cNvSpPr txBox="1"/>
          <p:nvPr/>
        </p:nvSpPr>
        <p:spPr>
          <a:xfrm>
            <a:off x="762000" y="1780797"/>
            <a:ext cx="10668000" cy="442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b="1" i="1" u="none" strike="noStrike" cap="none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You dream the trip. We engineer the experience.</a:t>
            </a:r>
          </a:p>
        </p:txBody>
      </p:sp>
      <p:sp>
        <p:nvSpPr>
          <p:cNvPr id="275" name="Google Shape;275;p22"/>
          <p:cNvSpPr txBox="1"/>
          <p:nvPr/>
        </p:nvSpPr>
        <p:spPr>
          <a:xfrm>
            <a:off x="809625" y="3003143"/>
            <a:ext cx="4500562" cy="253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40A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Echipa TravelMate</a:t>
            </a:r>
            <a:r>
              <a:rPr lang="ro-RO" altLang="en-US" sz="1650" b="1" i="0" u="none" strike="noStrike" cap="none">
                <a:solidFill>
                  <a:srgbClr val="1E40A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AI</a:t>
            </a:r>
          </a:p>
        </p:txBody>
      </p:sp>
      <p:sp>
        <p:nvSpPr>
          <p:cNvPr id="276" name="Google Shape;276;p22"/>
          <p:cNvSpPr txBox="1"/>
          <p:nvPr/>
        </p:nvSpPr>
        <p:spPr>
          <a:xfrm>
            <a:off x="809625" y="3392398"/>
            <a:ext cx="428625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• </a:t>
            </a:r>
            <a:r>
              <a:rPr lang="en-US" altLang="en-US" sz="1500" b="1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Product Owner / Business Lead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</a:t>
            </a:r>
            <a:r>
              <a:rPr lang="ro-RO" altLang="en-US" sz="1500" b="0" i="0" u="none" strike="noStrike" cap="none">
                <a:solidFill>
                  <a:srgbClr val="47556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Adina</a:t>
            </a:r>
          </a:p>
        </p:txBody>
      </p:sp>
      <p:sp>
        <p:nvSpPr>
          <p:cNvPr id="277" name="Google Shape;277;p22"/>
          <p:cNvSpPr txBox="1"/>
          <p:nvPr/>
        </p:nvSpPr>
        <p:spPr>
          <a:xfrm>
            <a:off x="809625" y="3887470"/>
            <a:ext cx="532638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• </a:t>
            </a:r>
            <a:r>
              <a:rPr lang="en-US" altLang="en-US" sz="1500" b="1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AI/Backend Lead (Agent 1 — Search &amp; Compare)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</a:t>
            </a:r>
            <a:r>
              <a:rPr lang="ro-RO" altLang="en-US" sz="1500" b="0" i="0" strike="noStrike" cap="none">
                <a:solidFill>
                  <a:srgbClr val="47556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Radu</a:t>
            </a:r>
          </a:p>
        </p:txBody>
      </p:sp>
      <p:sp>
        <p:nvSpPr>
          <p:cNvPr id="278" name="Google Shape;278;p22"/>
          <p:cNvSpPr txBox="1"/>
          <p:nvPr/>
        </p:nvSpPr>
        <p:spPr>
          <a:xfrm>
            <a:off x="809625" y="4382770"/>
            <a:ext cx="4953635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• </a:t>
            </a:r>
            <a:r>
              <a:rPr lang="en-US" altLang="en-US" sz="1500" b="1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AI/Backend Lead (Agent 2 — Itinerary Planner)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</a:t>
            </a:r>
            <a:r>
              <a:rPr lang="ro-RO" altLang="en-US" sz="1500" b="0" i="0" u="none" strike="noStrike" cap="none">
                <a:solidFill>
                  <a:srgbClr val="47556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Cristina</a:t>
            </a:r>
          </a:p>
        </p:txBody>
      </p:sp>
      <p:sp>
        <p:nvSpPr>
          <p:cNvPr id="279" name="Google Shape;279;p22"/>
          <p:cNvSpPr txBox="1"/>
          <p:nvPr/>
        </p:nvSpPr>
        <p:spPr>
          <a:xfrm>
            <a:off x="6762750" y="3685133"/>
            <a:ext cx="450056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60A5F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Contact</a:t>
            </a:r>
          </a:p>
        </p:txBody>
      </p:sp>
      <p:sp>
        <p:nvSpPr>
          <p:cNvPr id="280" name="Google Shape;280;p22"/>
          <p:cNvSpPr txBox="1"/>
          <p:nvPr/>
        </p:nvSpPr>
        <p:spPr>
          <a:xfrm>
            <a:off x="6762750" y="4189730"/>
            <a:ext cx="4843780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500" b="0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https://calm-smoke-0c51b8803.7.azurestaticapps.net/</a:t>
            </a:r>
          </a:p>
        </p:txBody>
      </p:sp>
      <p:sp>
        <p:nvSpPr>
          <p:cNvPr id="281" name="Google Shape;281;p22"/>
          <p:cNvSpPr txBox="1"/>
          <p:nvPr/>
        </p:nvSpPr>
        <p:spPr>
          <a:xfrm>
            <a:off x="6762750" y="4685258"/>
            <a:ext cx="4286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contact@travelmate.ai</a:t>
            </a:r>
          </a:p>
        </p:txBody>
      </p:sp>
      <p:sp>
        <p:nvSpPr>
          <p:cNvPr id="282" name="Google Shape;282;p22"/>
          <p:cNvSpPr txBox="1"/>
          <p:nvPr/>
        </p:nvSpPr>
        <p:spPr>
          <a:xfrm>
            <a:off x="6762750" y="5180330"/>
            <a:ext cx="477901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</a:t>
            </a:r>
            <a:r>
              <a:rPr lang="en-US" altLang="en-US" sz="1500" b="0" i="0" u="none" strike="noStrike" cap="none">
                <a:solidFill>
                  <a:srgbClr val="CBD5E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https://github.com/radu-onutu-aera/travelmate-ai</a:t>
            </a:r>
          </a:p>
        </p:txBody>
      </p:sp>
      <p:pic>
        <p:nvPicPr>
          <p:cNvPr id="283" name="Google Shape;283;p22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6762750" y="4256633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2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6762750" y="4751933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2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6762750" y="5247233"/>
            <a:ext cx="1809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78;p22"/>
          <p:cNvSpPr txBox="1"/>
          <p:nvPr/>
        </p:nvSpPr>
        <p:spPr>
          <a:xfrm>
            <a:off x="809625" y="4887823"/>
            <a:ext cx="428625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• </a:t>
            </a:r>
            <a:r>
              <a:rPr lang="en-US" altLang="en-US" sz="1500" b="1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Frontend Developer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</a:t>
            </a:r>
            <a:r>
              <a:rPr lang="ro-RO" altLang="en-US" sz="1500" b="0" i="0" u="none" strike="noStrike" cap="none">
                <a:solidFill>
                  <a:srgbClr val="47556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Denisa</a:t>
            </a:r>
          </a:p>
        </p:txBody>
      </p:sp>
      <p:sp>
        <p:nvSpPr>
          <p:cNvPr id="2" name="Google Shape;278;p22"/>
          <p:cNvSpPr txBox="1"/>
          <p:nvPr/>
        </p:nvSpPr>
        <p:spPr>
          <a:xfrm>
            <a:off x="809625" y="5479643"/>
            <a:ext cx="428625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• </a:t>
            </a:r>
            <a:r>
              <a:rPr lang="en-US" altLang="en-US" sz="1500" b="1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Project Manager / Pitch Lead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</a:t>
            </a:r>
            <a:r>
              <a:rPr lang="ro-RO" altLang="en-US" sz="1500" b="0" i="0" u="none" strike="noStrike" cap="none">
                <a:solidFill>
                  <a:srgbClr val="47556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Melania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366.3,&quot;left&quot;:49.227960205078126,&quot;top&quot;:103.8,&quot;width&quot;:851.244079589843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8293_3*l_h_i*1_2_2"/>
  <p:tag name="KSO_WM_TEMPLATE_CATEGORY" val="diagram"/>
  <p:tag name="KSO_WM_TEMPLATE_INDEX" val="20238293"/>
  <p:tag name="KSO_WM_UNIT_LAYERLEVEL" val="1_1_1"/>
  <p:tag name="KSO_WM_TAG_VERSION" val="3.0"/>
  <p:tag name="KSO_WM_BEAUTIFY_FLAG" val="#wm#"/>
  <p:tag name="KSO_WM_UNIT_LINE_FORE_SCHEMECOLOR_INDEX" val="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6"/>
  <p:tag name="KSO_WM_DIAGRAM_MIN_ITEMCNT" val="2"/>
  <p:tag name="KSO_WM_DIAGRAM_VIRTUALLY_FRAME" val="{&quot;height&quot;:366.3,&quot;left&quot;:49.227960205078126,&quot;top&quot;:103.8,&quot;width&quot;:851.2440795898438}"/>
  <p:tag name="KSO_WM_DIAGRAM_COLOR_MATCH_VALUE" val="{&quot;shape&quot;:{&quot;fill&quot;:{&quot;gradient&quot;:[{&quot;brightness&quot;:0,&quot;colorType&quot;:1,&quot;foreColorIndex&quot;:5,&quot;pos&quot;:0,&quot;transparency&quot;:0},{&quot;brightness&quot;:-0.25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8293_3*l_h_i*1_2_1"/>
  <p:tag name="KSO_WM_TEMPLATE_CATEGORY" val="diagram"/>
  <p:tag name="KSO_WM_TEMPLATE_INDEX" val="20238293"/>
  <p:tag name="KSO_WM_UNIT_LAYERLEVEL" val="1_1_1"/>
  <p:tag name="KSO_WM_TAG_VERSION" val="3.0"/>
  <p:tag name="KSO_WM_BEAUTIFY_FLAG" val="#wm#"/>
  <p:tag name="KSO_WM_UNIT_PRESET_TEXT" val="02"/>
  <p:tag name="KSO_WM_UNIT_FILL_TYPE" val="3"/>
  <p:tag name="KSO_WM_UNIT_TEXT_FILL_FORE_SCHEMECOLOR_INDEX" val="1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6"/>
  <p:tag name="KSO_WM_DIAGRAM_MIN_ITEMCNT" val="2"/>
  <p:tag name="KSO_WM_DIAGRAM_VIRTUALLY_FRAME" val="{&quot;height&quot;:366.3,&quot;left&quot;:49.227960205078126,&quot;top&quot;:103.8,&quot;width&quot;:851.244079589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8293_3*l_h_f*1_2_1"/>
  <p:tag name="KSO_WM_TEMPLATE_CATEGORY" val="diagram"/>
  <p:tag name="KSO_WM_TEMPLATE_INDEX" val="20238293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6"/>
  <p:tag name="KSO_WM_DIAGRAM_MIN_ITEMCNT" val="2"/>
  <p:tag name="KSO_WM_DIAGRAM_VIRTUALLY_FRAME" val="{&quot;height&quot;:366.3,&quot;left&quot;:49.227960205078126,&quot;top&quot;:103.8,&quot;width&quot;:851.244079589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8293_3*l_h_a*1_2_1"/>
  <p:tag name="KSO_WM_TEMPLATE_CATEGORY" val="diagram"/>
  <p:tag name="KSO_WM_TEMPLATE_INDEX" val="20238293"/>
  <p:tag name="KSO_WM_UNIT_LAYERLEVEL" val="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366.3,&quot;left&quot;:49.227960205078126,&quot;top&quot;:103.8,&quot;width&quot;:851.244079589843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8293_3*l_h_i*1_4_2"/>
  <p:tag name="KSO_WM_TEMPLATE_CATEGORY" val="diagram"/>
  <p:tag name="KSO_WM_TEMPLATE_INDEX" val="20238293"/>
  <p:tag name="KSO_WM_UNIT_LAYERLEVEL" val="1_1_1"/>
  <p:tag name="KSO_WM_TAG_VERSION" val="3.0"/>
  <p:tag name="KSO_WM_BEAUTIFY_FLAG" val="#wm#"/>
  <p:tag name="KSO_WM_UNIT_LINE_FORE_SCHEMECOLOR_INDEX" val="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6"/>
  <p:tag name="KSO_WM_DIAGRAM_MIN_ITEMCNT" val="2"/>
  <p:tag name="KSO_WM_DIAGRAM_VIRTUALLY_FRAME" val="{&quot;height&quot;:366.3,&quot;left&quot;:49.227960205078126,&quot;top&quot;:103.8,&quot;width&quot;:851.2440795898438}"/>
  <p:tag name="KSO_WM_DIAGRAM_COLOR_MATCH_VALUE" val="{&quot;shape&quot;:{&quot;fill&quot;:{&quot;gradient&quot;:[{&quot;brightness&quot;:0,&quot;colorType&quot;:1,&quot;foreColorIndex&quot;:5,&quot;pos&quot;:0,&quot;transparency&quot;:0},{&quot;brightness&quot;:-0.25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8293_3*l_h_i*1_4_1"/>
  <p:tag name="KSO_WM_TEMPLATE_CATEGORY" val="diagram"/>
  <p:tag name="KSO_WM_TEMPLATE_INDEX" val="20238293"/>
  <p:tag name="KSO_WM_UNIT_LAYERLEVEL" val="1_1_1"/>
  <p:tag name="KSO_WM_TAG_VERSION" val="3.0"/>
  <p:tag name="KSO_WM_BEAUTIFY_FLAG" val="#wm#"/>
  <p:tag name="KSO_WM_UNIT_PRESET_TEXT" val="04"/>
  <p:tag name="KSO_WM_UNIT_FILL_TYPE" val="3"/>
  <p:tag name="KSO_WM_UNIT_TEXT_FILL_FORE_SCHEMECOLOR_INDEX" val="1"/>
  <p:tag name="KSO_WM_UNIT_TEX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6"/>
  <p:tag name="KSO_WM_DIAGRAM_MIN_ITEMCNT" val="2"/>
  <p:tag name="KSO_WM_DIAGRAM_VIRTUALLY_FRAME" val="{&quot;height&quot;:366.3,&quot;left&quot;:49.227960205078126,&quot;top&quot;:103.8,&quot;width&quot;:851.244079589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8293_3*l_h_f*1_4_1"/>
  <p:tag name="KSO_WM_TEMPLATE_CATEGORY" val="diagram"/>
  <p:tag name="KSO_WM_TEMPLATE_INDEX" val="20238293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6"/>
  <p:tag name="KSO_WM_DIAGRAM_MIN_ITEMCNT" val="2"/>
  <p:tag name="KSO_WM_DIAGRAM_VIRTUALLY_FRAME" val="{&quot;height&quot;:366.3,&quot;left&quot;:49.227960205078126,&quot;top&quot;:103.8,&quot;width&quot;:851.244079589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8293_3*l_h_a*1_4_1"/>
  <p:tag name="KSO_WM_TEMPLATE_CATEGORY" val="diagram"/>
  <p:tag name="KSO_WM_TEMPLATE_INDEX" val="20238293"/>
  <p:tag name="KSO_WM_UNIT_LAYERLEVEL" val="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366.3,&quot;left&quot;:49.227960205078126,&quot;top&quot;:103.8,&quot;width&quot;:851.244079589843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8293_3*l_h_i*1_1_2"/>
  <p:tag name="KSO_WM_TEMPLATE_CATEGORY" val="diagram"/>
  <p:tag name="KSO_WM_TEMPLATE_INDEX" val="20238293"/>
  <p:tag name="KSO_WM_UNIT_LAYERLEVEL" val="1_1_1"/>
  <p:tag name="KSO_WM_TAG_VERSION" val="3.0"/>
  <p:tag name="KSO_WM_BEAUTIFY_FLAG" val="#wm#"/>
  <p:tag name="KSO_WM_UNIT_LINE_FORE_SCHEMECOLOR_INDEX" val="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6"/>
  <p:tag name="KSO_WM_DIAGRAM_MIN_ITEMCNT" val="2"/>
  <p:tag name="KSO_WM_DIAGRAM_VIRTUALLY_FRAME" val="{&quot;height&quot;:366.3,&quot;left&quot;:49.227960205078126,&quot;top&quot;:103.8,&quot;width&quot;:851.2440795898438}"/>
  <p:tag name="KSO_WM_DIAGRAM_COLOR_MATCH_VALUE" val="{&quot;shape&quot;:{&quot;fill&quot;:{&quot;gradient&quot;:[{&quot;brightness&quot;:0,&quot;colorType&quot;:1,&quot;foreColorIndex&quot;:5,&quot;pos&quot;:0,&quot;transparency&quot;:0},{&quot;brightness&quot;:-0.25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8293_3*l_h_i*1_1_1"/>
  <p:tag name="KSO_WM_TEMPLATE_CATEGORY" val="diagram"/>
  <p:tag name="KSO_WM_TEMPLATE_INDEX" val="20238293"/>
  <p:tag name="KSO_WM_UNIT_LAYERLEVEL" val="1_1_1"/>
  <p:tag name="KSO_WM_TAG_VERSION" val="3.0"/>
  <p:tag name="KSO_WM_BEAUTIFY_FLAG" val="#wm#"/>
  <p:tag name="KSO_WM_UNIT_PRESET_TEXT" val="01"/>
  <p:tag name="KSO_WM_UNIT_FILL_TYPE" val="3"/>
  <p:tag name="KSO_WM_UNIT_TEXT_FILL_FORE_SCHEMECOLOR_INDEX" val="1"/>
  <p:tag name="KSO_WM_UNIT_TEXT_FILL_TYPE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6"/>
  <p:tag name="KSO_WM_DIAGRAM_MIN_ITEMCNT" val="2"/>
  <p:tag name="KSO_WM_DIAGRAM_VIRTUALLY_FRAME" val="{&quot;height&quot;:366.3,&quot;left&quot;:49.227960205078126,&quot;top&quot;:103.8,&quot;width&quot;:851.244079589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8293_3*l_h_f*1_1_1"/>
  <p:tag name="KSO_WM_TEMPLATE_CATEGORY" val="diagram"/>
  <p:tag name="KSO_WM_TEMPLATE_INDEX" val="20238293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6"/>
  <p:tag name="KSO_WM_DIAGRAM_MIN_ITEMCNT" val="2"/>
  <p:tag name="KSO_WM_DIAGRAM_VIRTUALLY_FRAME" val="{&quot;height&quot;:366.3,&quot;left&quot;:49.227960205078126,&quot;top&quot;:103.8,&quot;width&quot;:851.244079589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8293_3*l_h_a*1_1_1"/>
  <p:tag name="KSO_WM_TEMPLATE_CATEGORY" val="diagram"/>
  <p:tag name="KSO_WM_TEMPLATE_INDEX" val="20238293"/>
  <p:tag name="KSO_WM_UNIT_LAYERLEVEL" val="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366.3,&quot;left&quot;:49.227960205078126,&quot;top&quot;:103.8,&quot;width&quot;:851.244079589843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8293_3*l_h_i*1_3_2"/>
  <p:tag name="KSO_WM_TEMPLATE_CATEGORY" val="diagram"/>
  <p:tag name="KSO_WM_TEMPLATE_INDEX" val="20238293"/>
  <p:tag name="KSO_WM_UNIT_LAYERLEVEL" val="1_1_1"/>
  <p:tag name="KSO_WM_TAG_VERSION" val="3.0"/>
  <p:tag name="KSO_WM_BEAUTIFY_FLAG" val="#wm#"/>
  <p:tag name="KSO_WM_UNIT_LINE_FORE_SCHEMECOLOR_INDEX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6"/>
  <p:tag name="KSO_WM_DIAGRAM_MIN_ITEMCNT" val="2"/>
  <p:tag name="KSO_WM_DIAGRAM_VIRTUALLY_FRAME" val="{&quot;height&quot;:366.3,&quot;left&quot;:49.227960205078126,&quot;top&quot;:103.8,&quot;width&quot;:851.2440795898438}"/>
  <p:tag name="KSO_WM_DIAGRAM_COLOR_MATCH_VALUE" val="{&quot;shape&quot;:{&quot;fill&quot;:{&quot;gradient&quot;:[{&quot;brightness&quot;:0,&quot;colorType&quot;:1,&quot;foreColorIndex&quot;:5,&quot;pos&quot;:0,&quot;transparency&quot;:0},{&quot;brightness&quot;:-0.25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8293_3*l_h_i*1_3_1"/>
  <p:tag name="KSO_WM_TEMPLATE_CATEGORY" val="diagram"/>
  <p:tag name="KSO_WM_TEMPLATE_INDEX" val="20238293"/>
  <p:tag name="KSO_WM_UNIT_LAYERLEVEL" val="1_1_1"/>
  <p:tag name="KSO_WM_TAG_VERSION" val="3.0"/>
  <p:tag name="KSO_WM_BEAUTIFY_FLAG" val="#wm#"/>
  <p:tag name="KSO_WM_UNIT_PRESET_TEXT" val="03"/>
  <p:tag name="KSO_WM_UNIT_FILL_TYPE" val="3"/>
  <p:tag name="KSO_WM_UNIT_TEXT_FILL_FORE_SCHEMECOLOR_INDEX" val="1"/>
  <p:tag name="KSO_WM_UNIT_TEXT_FILL_TYPE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6"/>
  <p:tag name="KSO_WM_DIAGRAM_MIN_ITEMCNT" val="2"/>
  <p:tag name="KSO_WM_DIAGRAM_VIRTUALLY_FRAME" val="{&quot;height&quot;:366.3,&quot;left&quot;:49.227960205078126,&quot;top&quot;:103.8,&quot;width&quot;:851.244079589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8293_3*l_h_f*1_3_1"/>
  <p:tag name="KSO_WM_TEMPLATE_CATEGORY" val="diagram"/>
  <p:tag name="KSO_WM_TEMPLATE_INDEX" val="20238293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6"/>
  <p:tag name="KSO_WM_DIAGRAM_MIN_ITEMCNT" val="2"/>
  <p:tag name="KSO_WM_DIAGRAM_VIRTUALLY_FRAME" val="{&quot;height&quot;:366.3,&quot;left&quot;:49.227960205078126,&quot;top&quot;:103.8,&quot;width&quot;:851.244079589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8293_3*l_h_a*1_3_1"/>
  <p:tag name="KSO_WM_TEMPLATE_CATEGORY" val="diagram"/>
  <p:tag name="KSO_WM_TEMPLATE_INDEX" val="20238293"/>
  <p:tag name="KSO_WM_UNIT_LAYERLEVEL" val="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772</Words>
  <Application>Microsoft Office PowerPoint</Application>
  <PresentationFormat>Ecran lat</PresentationFormat>
  <Paragraphs>130</Paragraphs>
  <Slides>11</Slides>
  <Notes>10</Notes>
  <HiddenSlides>0</HiddenSlides>
  <MMClips>0</MMClips>
  <ScaleCrop>false</ScaleCrop>
  <HeadingPairs>
    <vt:vector size="6" baseType="variant">
      <vt:variant>
        <vt:lpstr>Fonturi utilizate</vt:lpstr>
      </vt:variant>
      <vt:variant>
        <vt:i4>8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11</vt:i4>
      </vt:variant>
    </vt:vector>
  </HeadingPairs>
  <TitlesOfParts>
    <vt:vector size="20" baseType="lpstr">
      <vt:lpstr>Poppins SemiBold</vt:lpstr>
      <vt:lpstr>Calibri</vt:lpstr>
      <vt:lpstr>Lato</vt:lpstr>
      <vt:lpstr>Wingdings</vt:lpstr>
      <vt:lpstr>Poppins</vt:lpstr>
      <vt:lpstr>Microsoft YaHei</vt:lpstr>
      <vt:lpstr>Arial</vt:lpstr>
      <vt:lpstr>宋体</vt:lpstr>
      <vt:lpstr>Office Theme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/>
  <cp:lastModifiedBy>Cont Microsoft</cp:lastModifiedBy>
  <cp:revision>5</cp:revision>
  <dcterms:created xsi:type="dcterms:W3CDTF">2026-05-02T19:30:53Z</dcterms:created>
  <dcterms:modified xsi:type="dcterms:W3CDTF">2026-05-03T17:10:51Z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1033-12.1.0.25862</vt:lpwstr>
  </property>
  <property fmtid="{D5CDD505-2E9C-101B-9397-08002B2CF9AE}" pid="3" name="ICV">
    <vt:lpwstr>E3FAE3023A954BFE84840A8E51CF1FB4_12</vt:lpwstr>
  </property>
</Properties>
</file>